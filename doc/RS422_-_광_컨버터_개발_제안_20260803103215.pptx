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bb6a99d4bdd06847593b669bc83302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gen-dedup-809400fe0a353904b9305849c6ea1774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2" descr="gen-dedup-b945ef791e81af050284cfb34fa7b98c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6192195" y="7524598"/>
            <a:ext cx="133502" cy="133502"/>
          </a:xfrm>
          <a:prstGeom prst="rect">
            <a:avLst/>
          </a:prstGeom>
        </p:spPr>
      </p:pic>
      <p:pic>
        <p:nvPicPr>
          <p:cNvPr id="5" name="Image 3" descr="gen-dedup-cdd9a7c7fe171c73090048bb538573ef.png">    </p:cNvPr>
          <p:cNvPicPr>
            <a:picLocks noChangeAspect="1"/>
          </p:cNvPicPr>
          <p:nvPr/>
        </p:nvPicPr>
        <p:blipFill>
          <a:blip r:embed="rId4">
            <a:alphaModFix amt="70000"/>
          </a:blip>
          <a:srcRect l="0" r="0" t="0" b="0"/>
          <a:stretch/>
        </p:blipFill>
        <p:spPr>
          <a:xfrm>
            <a:off x="14287500" y="8762695"/>
            <a:ext cx="95098" cy="95098"/>
          </a:xfrm>
          <a:prstGeom prst="rect">
            <a:avLst/>
          </a:prstGeom>
        </p:spPr>
      </p:pic>
      <p:pic>
        <p:nvPicPr>
          <p:cNvPr id="6" name="Image 4" descr="gen-dedup-0512d6d67edd7d3b3f4c9b629c65c040.png">    </p:cNvPr>
          <p:cNvPicPr>
            <a:picLocks noChangeAspect="1"/>
          </p:cNvPicPr>
          <p:nvPr/>
        </p:nvPicPr>
        <p:blipFill>
          <a:blip r:embed="rId5">
            <a:alphaModFix amt="50000"/>
          </a:blip>
          <a:srcRect l="0" r="0" t="0" b="0"/>
          <a:stretch/>
        </p:blipFill>
        <p:spPr>
          <a:xfrm>
            <a:off x="16954805" y="8287207"/>
            <a:ext cx="75895" cy="75895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15430500" y="666598"/>
            <a:ext cx="20958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500" b="1" spc="375" kern="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XBEAM TECH</a:t>
            </a:r>
            <a:endParaRPr lang="en-US" sz="1500" dirty="0"/>
          </a:p>
        </p:txBody>
      </p:sp>
      <p:sp>
        <p:nvSpPr>
          <p:cNvPr id="8" name="Text 1"/>
          <p:cNvSpPr txBox="1"/>
          <p:nvPr/>
        </p:nvSpPr>
        <p:spPr>
          <a:xfrm>
            <a:off x="15430500" y="1009498"/>
            <a:ext cx="20958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spc="225" kern="0" dirty="0">
                <a:solidFill>
                  <a:srgbClr val="4FD1C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FIBER · SIGNAL · SYSTEM</a:t>
            </a:r>
            <a:endParaRPr lang="en-US" sz="825" dirty="0"/>
          </a:p>
        </p:txBody>
      </p:sp>
      <p:sp>
        <p:nvSpPr>
          <p:cNvPr id="9" name="Text 2"/>
          <p:cNvSpPr txBox="1"/>
          <p:nvPr/>
        </p:nvSpPr>
        <p:spPr>
          <a:xfrm>
            <a:off x="1143000" y="2667305"/>
            <a:ext cx="3943807" cy="342900"/>
          </a:xfrm>
          <a:prstGeom prst="rect">
            <a:avLst/>
          </a:prstGeom>
          <a:solidFill>
            <a:srgbClr val="4FD1C5">
              <a:alpha val="15000"/>
            </a:srgbClr>
          </a:solidFill>
          <a:ln w="12700">
            <a:solidFill>
              <a:srgbClr val="4FD1C5">
                <a:alpha val="50000"/>
              </a:srgbClr>
            </a:solidFill>
          </a:ln>
        </p:spPr>
        <p:txBody>
          <a:bodyPr wrap="none" lIns="190500" tIns="76200" rIns="190500" bIns="7620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4FD1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TECHNICAL PROPOSAL / ITEM #1-2</a:t>
            </a:r>
            <a:endParaRPr lang="en-US" sz="1050" dirty="0"/>
          </a:p>
        </p:txBody>
      </p:sp>
      <p:sp>
        <p:nvSpPr>
          <p:cNvPr id="10" name="Text 3"/>
          <p:cNvSpPr txBox="1"/>
          <p:nvPr/>
        </p:nvSpPr>
        <p:spPr>
          <a:xfrm>
            <a:off x="1143000" y="3238805"/>
            <a:ext cx="13335610" cy="11247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400" b="1" spc="-225" kern="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RS-422 </a:t>
            </a:r>
            <a:pPr algn="l" indent="0" marL="0">
              <a:buNone/>
            </a:pPr>
            <a:r>
              <a:rPr lang="en-US" sz="8400" b="1" spc="-225" kern="0" dirty="0">
                <a:solidFill>
                  <a:srgbClr val="4FD1C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↔</a:t>
            </a:r>
            <a:pPr algn="l" indent="0" marL="0">
              <a:buNone/>
            </a:pPr>
            <a:r>
              <a:rPr lang="en-US" sz="8400" b="1" spc="-225" kern="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Fiber</a:t>
            </a:r>
            <a:endParaRPr lang="en-US" sz="8400" dirty="0"/>
          </a:p>
        </p:txBody>
      </p:sp>
      <p:sp>
        <p:nvSpPr>
          <p:cNvPr id="11" name="Text 4"/>
          <p:cNvSpPr txBox="1"/>
          <p:nvPr/>
        </p:nvSpPr>
        <p:spPr>
          <a:xfrm>
            <a:off x="1143000" y="4396435"/>
            <a:ext cx="13335610" cy="11247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400" spc="-225" kern="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Optical Converter</a:t>
            </a:r>
            <a:endParaRPr lang="en-US" sz="8400" dirty="0"/>
          </a:p>
        </p:txBody>
      </p:sp>
      <p:pic>
        <p:nvPicPr>
          <p:cNvPr id="12" name="Image 5" descr="gen-dedup-592e49abd8ee2dbc0dbb2e6abaafd76e.png">    </p:cNvPr>
          <p:cNvPicPr>
            <a:picLocks noChangeAspect="1"/>
          </p:cNvPicPr>
          <p:nvPr/>
        </p:nvPicPr>
        <p:blipFill>
          <a:blip r:embed="rId6"/>
          <a:srcRect l="0" r="0" t="-400" b="-400"/>
          <a:stretch/>
        </p:blipFill>
        <p:spPr>
          <a:xfrm>
            <a:off x="1143000" y="5905195"/>
            <a:ext cx="1714500" cy="38405"/>
          </a:xfrm>
          <a:prstGeom prst="rect">
            <a:avLst/>
          </a:prstGeom>
        </p:spPr>
      </p:pic>
      <p:sp>
        <p:nvSpPr>
          <p:cNvPr id="13" name="Text 5"/>
          <p:cNvSpPr txBox="1"/>
          <p:nvPr/>
        </p:nvSpPr>
        <p:spPr>
          <a:xfrm>
            <a:off x="1143000" y="6191402"/>
            <a:ext cx="133356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spc="-37" kern="0" dirty="0">
                <a:solidFill>
                  <a:srgbClr val="A8CBF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Full Duplex Serializer / Deserializer for Multi-Channel RS-422 Communication</a:t>
            </a:r>
            <a:endParaRPr lang="en-US" sz="2250" dirty="0"/>
          </a:p>
        </p:txBody>
      </p:sp>
      <p:sp>
        <p:nvSpPr>
          <p:cNvPr id="14" name="Text 6"/>
          <p:cNvSpPr txBox="1"/>
          <p:nvPr/>
        </p:nvSpPr>
        <p:spPr>
          <a:xfrm>
            <a:off x="1143000" y="6724498"/>
            <a:ext cx="13335610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B8C2C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4채널 테스트 버전 사양 및 64채널 확장 로드맵 제안</a:t>
            </a:r>
            <a:endParaRPr lang="en-US" sz="1650" dirty="0"/>
          </a:p>
        </p:txBody>
      </p:sp>
      <p:sp>
        <p:nvSpPr>
          <p:cNvPr id="15" name="Shape 7"/>
          <p:cNvSpPr/>
          <p:nvPr/>
        </p:nvSpPr>
        <p:spPr>
          <a:xfrm>
            <a:off x="1143000" y="7810805"/>
            <a:ext cx="1705356" cy="733349"/>
          </a:xfrm>
          <a:prstGeom prst="roundRect">
            <a:avLst>
              <a:gd name="adj" fmla="val 2618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A8CBF0">
                <a:alpha val="30000"/>
              </a:srgbClr>
            </a:solidFill>
            <a:prstDash val="solid"/>
          </a:ln>
        </p:spPr>
      </p:sp>
      <p:sp>
        <p:nvSpPr>
          <p:cNvPr id="16" name="Text 8"/>
          <p:cNvSpPr txBox="1"/>
          <p:nvPr/>
        </p:nvSpPr>
        <p:spPr>
          <a:xfrm>
            <a:off x="1362456" y="7934249"/>
            <a:ext cx="1267358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50" kern="0" dirty="0">
                <a:solidFill>
                  <a:srgbClr val="A8CB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BAUD</a:t>
            </a:r>
            <a:endParaRPr lang="en-US" sz="825" dirty="0"/>
          </a:p>
        </p:txBody>
      </p:sp>
      <p:sp>
        <p:nvSpPr>
          <p:cNvPr id="17" name="Text 9"/>
          <p:cNvSpPr txBox="1"/>
          <p:nvPr/>
        </p:nvSpPr>
        <p:spPr>
          <a:xfrm>
            <a:off x="1362456" y="8106156"/>
            <a:ext cx="1267358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 ~ 8 Mbps</a:t>
            </a:r>
            <a:endParaRPr lang="en-US" sz="1650" dirty="0"/>
          </a:p>
        </p:txBody>
      </p:sp>
      <p:sp>
        <p:nvSpPr>
          <p:cNvPr id="18" name="Shape 10"/>
          <p:cNvSpPr/>
          <p:nvPr/>
        </p:nvSpPr>
        <p:spPr>
          <a:xfrm>
            <a:off x="2971800" y="7810805"/>
            <a:ext cx="1285646" cy="733349"/>
          </a:xfrm>
          <a:prstGeom prst="roundRect">
            <a:avLst>
              <a:gd name="adj" fmla="val 2618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A8CBF0">
                <a:alpha val="30000"/>
              </a:srgbClr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3191256" y="7934249"/>
            <a:ext cx="848563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50" kern="0" dirty="0">
                <a:solidFill>
                  <a:srgbClr val="A8CB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CHANNELS</a:t>
            </a:r>
            <a:endParaRPr lang="en-US" sz="825" dirty="0"/>
          </a:p>
        </p:txBody>
      </p:sp>
      <p:sp>
        <p:nvSpPr>
          <p:cNvPr id="20" name="Text 12"/>
          <p:cNvSpPr txBox="1"/>
          <p:nvPr/>
        </p:nvSpPr>
        <p:spPr>
          <a:xfrm>
            <a:off x="3191256" y="8106156"/>
            <a:ext cx="848563" cy="3145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 → 64</a:t>
            </a:r>
            <a:endParaRPr lang="en-US" sz="1650" dirty="0"/>
          </a:p>
        </p:txBody>
      </p:sp>
      <p:sp>
        <p:nvSpPr>
          <p:cNvPr id="21" name="Shape 13"/>
          <p:cNvSpPr/>
          <p:nvPr/>
        </p:nvSpPr>
        <p:spPr>
          <a:xfrm>
            <a:off x="4381805" y="7810805"/>
            <a:ext cx="1571854" cy="733349"/>
          </a:xfrm>
          <a:prstGeom prst="roundRect">
            <a:avLst>
              <a:gd name="adj" fmla="val 2618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A8CBF0">
                <a:alpha val="30000"/>
              </a:srgbClr>
            </a:solidFill>
            <a:prstDash val="solid"/>
          </a:ln>
        </p:spPr>
      </p:sp>
      <p:sp>
        <p:nvSpPr>
          <p:cNvPr id="22" name="Text 14"/>
          <p:cNvSpPr txBox="1"/>
          <p:nvPr/>
        </p:nvSpPr>
        <p:spPr>
          <a:xfrm>
            <a:off x="4601261" y="7934249"/>
            <a:ext cx="1133856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50" kern="0" dirty="0">
                <a:solidFill>
                  <a:srgbClr val="A8CB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FIBER LINK</a:t>
            </a:r>
            <a:endParaRPr lang="en-US" sz="825" dirty="0"/>
          </a:p>
        </p:txBody>
      </p:sp>
      <p:sp>
        <p:nvSpPr>
          <p:cNvPr id="23" name="Text 15"/>
          <p:cNvSpPr txBox="1"/>
          <p:nvPr/>
        </p:nvSpPr>
        <p:spPr>
          <a:xfrm>
            <a:off x="4601261" y="8106156"/>
            <a:ext cx="113385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 Gbps SM</a:t>
            </a:r>
            <a:endParaRPr lang="en-US" sz="1650" dirty="0"/>
          </a:p>
        </p:txBody>
      </p:sp>
      <p:sp>
        <p:nvSpPr>
          <p:cNvPr id="24" name="Shape 16"/>
          <p:cNvSpPr/>
          <p:nvPr/>
        </p:nvSpPr>
        <p:spPr>
          <a:xfrm>
            <a:off x="6085332" y="7810805"/>
            <a:ext cx="942746" cy="733349"/>
          </a:xfrm>
          <a:prstGeom prst="roundRect">
            <a:avLst>
              <a:gd name="adj" fmla="val 2618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A8CBF0">
                <a:alpha val="30000"/>
              </a:srgbClr>
            </a:solidFill>
            <a:prstDash val="solid"/>
          </a:ln>
        </p:spPr>
      </p:sp>
      <p:sp>
        <p:nvSpPr>
          <p:cNvPr id="25" name="Text 17"/>
          <p:cNvSpPr txBox="1"/>
          <p:nvPr/>
        </p:nvSpPr>
        <p:spPr>
          <a:xfrm>
            <a:off x="6303874" y="7934249"/>
            <a:ext cx="505663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spc="150" kern="0" dirty="0">
                <a:solidFill>
                  <a:srgbClr val="A8CB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DUPLEX</a:t>
            </a:r>
            <a:endParaRPr lang="en-US" sz="825" dirty="0"/>
          </a:p>
        </p:txBody>
      </p:sp>
      <p:sp>
        <p:nvSpPr>
          <p:cNvPr id="26" name="Text 18"/>
          <p:cNvSpPr txBox="1"/>
          <p:nvPr/>
        </p:nvSpPr>
        <p:spPr>
          <a:xfrm>
            <a:off x="6303874" y="8106156"/>
            <a:ext cx="505663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Full</a:t>
            </a:r>
            <a:endParaRPr lang="en-US" sz="1650" dirty="0"/>
          </a:p>
        </p:txBody>
      </p:sp>
      <p:sp>
        <p:nvSpPr>
          <p:cNvPr id="27" name="Text 19"/>
          <p:cNvSpPr txBox="1"/>
          <p:nvPr/>
        </p:nvSpPr>
        <p:spPr>
          <a:xfrm>
            <a:off x="1143000" y="9430207"/>
            <a:ext cx="9525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225" kern="0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2026.08.03 · REV 1.0 · CONFIDENTIAL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bbe9102593f4e087a7f9a8829596dda6.png">    </p:cNvPr>
          <p:cNvPicPr>
            <a:picLocks noChangeAspect="1"/>
          </p:cNvPicPr>
          <p:nvPr/>
        </p:nvPicPr>
        <p:blipFill>
          <a:blip r:embed="rId1"/>
          <a:srcRect l="0" r="0" t="-18" b="-18"/>
          <a:stretch/>
        </p:blipFill>
        <p:spPr>
          <a:xfrm>
            <a:off x="0" y="0"/>
            <a:ext cx="18288000" cy="83850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868205"/>
            <a:ext cx="18288000" cy="428854"/>
          </a:xfrm>
          <a:prstGeom prst="rect">
            <a:avLst/>
          </a:prstGeom>
          <a:solidFill>
            <a:srgbClr val="EBF0F5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9868205"/>
            <a:ext cx="18288000" cy="9144"/>
          </a:xfrm>
          <a:prstGeom prst="rect">
            <a:avLst/>
          </a:prstGeom>
          <a:solidFill>
            <a:srgbClr val="D5DDE7"/>
          </a:solidFill>
          <a:ln w="12700">
            <a:solidFill>
              <a:srgbClr val="D5DDE7">
                <a:alpha val="0"/>
              </a:srgbClr>
            </a:solidFill>
            <a:prstDash val="solid"/>
          </a:ln>
        </p:spPr>
      </p:sp>
      <p:pic>
        <p:nvPicPr>
          <p:cNvPr id="5" name="Image 1" descr="gen-dedup-e87c4d4ed67c6ea2164fdb92aa4bb5fd.png">    </p:cNvPr>
          <p:cNvPicPr>
            <a:picLocks noChangeAspect="1"/>
          </p:cNvPicPr>
          <p:nvPr/>
        </p:nvPicPr>
        <p:blipFill>
          <a:blip r:embed="rId2"/>
          <a:srcRect l="0" r="0" t="-3" b="-3"/>
          <a:stretch/>
        </p:blipFill>
        <p:spPr>
          <a:xfrm>
            <a:off x="761695" y="3238805"/>
            <a:ext cx="7867498" cy="609630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144000" y="4000500"/>
            <a:ext cx="8401507" cy="16386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144000" y="5810098"/>
            <a:ext cx="8401507" cy="16386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7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9144000" y="7619695"/>
            <a:ext cx="8401507" cy="1638605"/>
          </a:xfrm>
          <a:prstGeom prst="rect">
            <a:avLst/>
          </a:prstGeom>
          <a:solidFill>
            <a:srgbClr val="FFFFFF"/>
          </a:solidFill>
          <a:ln w="12700">
            <a:solidFill>
              <a:srgbClr val="D5DDE7"/>
            </a:solidFill>
            <a:prstDash val="solid"/>
          </a:ln>
        </p:spPr>
      </p:sp>
      <p:pic>
        <p:nvPicPr>
          <p:cNvPr id="9" name="Image 2" descr="gen-dedup-ab13b1503a75a77af94717592b17bd40.png">    </p:cNvPr>
          <p:cNvPicPr>
            <a:picLocks noChangeAspect="1"/>
          </p:cNvPicPr>
          <p:nvPr/>
        </p:nvPicPr>
        <p:blipFill>
          <a:blip r:embed="rId3"/>
          <a:srcRect l="0" r="0" t="-206" b="-206"/>
          <a:stretch/>
        </p:blipFill>
        <p:spPr>
          <a:xfrm>
            <a:off x="9144000" y="4000500"/>
            <a:ext cx="75895" cy="1619402"/>
          </a:xfrm>
          <a:prstGeom prst="rect">
            <a:avLst/>
          </a:prstGeom>
        </p:spPr>
      </p:pic>
      <p:pic>
        <p:nvPicPr>
          <p:cNvPr id="10" name="Image 3" descr="gen-dedup-7f04b7c55d37d5180e7b0d16feb1f1b6.png">    </p:cNvPr>
          <p:cNvPicPr>
            <a:picLocks noChangeAspect="1"/>
          </p:cNvPicPr>
          <p:nvPr/>
        </p:nvPicPr>
        <p:blipFill>
          <a:blip r:embed="rId4"/>
          <a:srcRect l="0" r="0" t="-206" b="-206"/>
          <a:stretch/>
        </p:blipFill>
        <p:spPr>
          <a:xfrm>
            <a:off x="9144000" y="5810098"/>
            <a:ext cx="75895" cy="1619402"/>
          </a:xfrm>
          <a:prstGeom prst="rect">
            <a:avLst/>
          </a:prstGeom>
        </p:spPr>
      </p:pic>
      <p:pic>
        <p:nvPicPr>
          <p:cNvPr id="11" name="Image 4" descr="gen-dedup-ac50160196d685273e65278cae1087f1.png">    </p:cNvPr>
          <p:cNvPicPr>
            <a:picLocks noChangeAspect="1"/>
          </p:cNvPicPr>
          <p:nvPr/>
        </p:nvPicPr>
        <p:blipFill>
          <a:blip r:embed="rId5"/>
          <a:srcRect l="0" r="0" t="-206" b="-206"/>
          <a:stretch/>
        </p:blipFill>
        <p:spPr>
          <a:xfrm>
            <a:off x="9144000" y="7619695"/>
            <a:ext cx="75895" cy="1619402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761695" y="190195"/>
            <a:ext cx="76206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b="1" spc="225" kern="0" dirty="0">
                <a:solidFill>
                  <a:srgbClr val="4FD1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/ OVERVIEW</a:t>
            </a:r>
            <a:endParaRPr lang="en-US" sz="825" dirty="0"/>
          </a:p>
        </p:txBody>
      </p:sp>
      <p:sp>
        <p:nvSpPr>
          <p:cNvPr id="13" name="Text 6"/>
          <p:cNvSpPr txBox="1"/>
          <p:nvPr/>
        </p:nvSpPr>
        <p:spPr>
          <a:xfrm>
            <a:off x="761695" y="362102"/>
            <a:ext cx="76206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spc="-37" kern="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시스템 개요</a:t>
            </a:r>
            <a:endParaRPr lang="en-US" sz="2100" dirty="0"/>
          </a:p>
        </p:txBody>
      </p:sp>
      <p:sp>
        <p:nvSpPr>
          <p:cNvPr id="14" name="Text 7"/>
          <p:cNvSpPr txBox="1"/>
          <p:nvPr/>
        </p:nvSpPr>
        <p:spPr>
          <a:xfrm>
            <a:off x="15430500" y="323698"/>
            <a:ext cx="2095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b="1" spc="300" kern="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XBEAM TECH</a:t>
            </a:r>
            <a:endParaRPr lang="en-US" sz="1050" dirty="0"/>
          </a:p>
        </p:txBody>
      </p:sp>
      <p:sp>
        <p:nvSpPr>
          <p:cNvPr id="15" name="Text 8"/>
          <p:cNvSpPr txBox="1"/>
          <p:nvPr/>
        </p:nvSpPr>
        <p:spPr>
          <a:xfrm>
            <a:off x="761695" y="1333195"/>
            <a:ext cx="9525305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900" b="1" spc="-112" kern="0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64채널 RS-422를 </a:t>
            </a:r>
            <a:pPr algn="l" indent="0" marL="0">
              <a:buNone/>
            </a:pPr>
            <a:r>
              <a:rPr lang="en-US" sz="3900" b="1" spc="-112" kern="0" dirty="0">
                <a:solidFill>
                  <a:srgbClr val="3E8ED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단일 광링크</a:t>
            </a:r>
            <a:pPr algn="l" indent="0" marL="0">
              <a:buNone/>
            </a:pPr>
            <a:r>
              <a:rPr lang="en-US" sz="3900" b="1" spc="-112" kern="0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로</a:t>
            </a:r>
            <a:endParaRPr lang="en-US" sz="3900" dirty="0"/>
          </a:p>
        </p:txBody>
      </p:sp>
      <p:sp>
        <p:nvSpPr>
          <p:cNvPr id="16" name="Text 9"/>
          <p:cNvSpPr txBox="1"/>
          <p:nvPr/>
        </p:nvSpPr>
        <p:spPr>
          <a:xfrm>
            <a:off x="761695" y="2036369"/>
            <a:ext cx="9525305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2C3E5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Full Duplex Serializer / Deserializer 시스템 개발 제안</a:t>
            </a:r>
            <a:endParaRPr lang="en-US" sz="2250" dirty="0"/>
          </a:p>
        </p:txBody>
      </p:sp>
      <p:sp>
        <p:nvSpPr>
          <p:cNvPr id="17" name="Text 10"/>
          <p:cNvSpPr txBox="1"/>
          <p:nvPr/>
        </p:nvSpPr>
        <p:spPr>
          <a:xfrm>
            <a:off x="1143000" y="3524098"/>
            <a:ext cx="7239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225" kern="0" dirty="0">
                <a:solidFill>
                  <a:srgbClr val="3E8E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CONCEPT</a:t>
            </a:r>
            <a:endParaRPr lang="en-US" sz="1050" dirty="0"/>
          </a:p>
        </p:txBody>
      </p:sp>
      <p:sp>
        <p:nvSpPr>
          <p:cNvPr id="18" name="Text 11"/>
          <p:cNvSpPr txBox="1"/>
          <p:nvPr/>
        </p:nvSpPr>
        <p:spPr>
          <a:xfrm>
            <a:off x="1143000" y="3771900"/>
            <a:ext cx="7239305" cy="829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b="1" spc="-37" kern="0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다채널 RS-422 UART 데이터를 하나의 고속 광 링크로 전송/복원</a:t>
            </a:r>
            <a:endParaRPr lang="en-US" sz="2400" dirty="0"/>
          </a:p>
        </p:txBody>
      </p:sp>
      <p:pic>
        <p:nvPicPr>
          <p:cNvPr id="19" name="Image 5" descr="gen-dedup-63b3dc88ec866c9c9549c88f458b1094.png">    </p:cNvPr>
          <p:cNvPicPr>
            <a:picLocks noChangeAspect="1"/>
          </p:cNvPicPr>
          <p:nvPr/>
        </p:nvPicPr>
        <p:blipFill>
          <a:blip r:embed="rId6"/>
          <a:srcRect l="-404" r="-404" t="0" b="0"/>
          <a:stretch/>
        </p:blipFill>
        <p:spPr>
          <a:xfrm>
            <a:off x="1143000" y="4785055"/>
            <a:ext cx="571500" cy="28346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143000" y="4955134"/>
            <a:ext cx="7239305" cy="1002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94"/>
              </a:lnSpc>
              <a:buNone/>
            </a:pPr>
            <a:r>
              <a:rPr lang="en-US" sz="1425" dirty="0">
                <a:solidFill>
                  <a:srgbClr val="2C3E5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송신부(PSE)와 수신부(PD) 한 쌍으로 구성되며,</a:t>
            </a:r>
            <a:pPr algn="l" indent="0" marL="0">
              <a:lnSpc>
                <a:spcPts val="2494"/>
              </a:lnSpc>
              <a:buNone/>
            </a:pPr>
            <a:endParaRPr lang="en-US" sz="1425" dirty="0"/>
          </a:p>
          <a:p>
            <a:pPr algn="l" indent="0" marL="0">
              <a:lnSpc>
                <a:spcPts val="2494"/>
              </a:lnSpc>
              <a:buNone/>
            </a:pPr>
            <a:r>
              <a:rPr lang="en-US" sz="1425" dirty="0">
                <a:solidFill>
                  <a:srgbClr val="2C3E5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Hybrid Cable(2 Fibers + 2 Copper) 하나로 </a:t>
            </a:r>
            <a:pPr algn="l" indent="0" marL="0">
              <a:lnSpc>
                <a:spcPts val="2494"/>
              </a:lnSpc>
              <a:buNone/>
            </a:pPr>
            <a:endParaRPr lang="en-US" sz="1425" dirty="0"/>
          </a:p>
          <a:p>
            <a:pPr algn="l" indent="0" marL="0">
              <a:lnSpc>
                <a:spcPts val="2494"/>
              </a:lnSpc>
              <a:buNone/>
            </a:pPr>
            <a:r>
              <a:rPr lang="en-US" sz="1425" dirty="0">
                <a:solidFill>
                  <a:srgbClr val="2C3E5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다채널 시리얼 데이터와 전원을 동시 전달합니다.</a:t>
            </a:r>
            <a:endParaRPr lang="en-US" sz="1425" dirty="0"/>
          </a:p>
        </p:txBody>
      </p:sp>
      <p:sp>
        <p:nvSpPr>
          <p:cNvPr id="21" name="Text 13"/>
          <p:cNvSpPr txBox="1"/>
          <p:nvPr/>
        </p:nvSpPr>
        <p:spPr>
          <a:xfrm>
            <a:off x="1143000" y="6381598"/>
            <a:ext cx="7239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225" kern="0" dirty="0">
                <a:solidFill>
                  <a:srgbClr val="3E8E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KEY OBJECTIVES</a:t>
            </a:r>
            <a:endParaRPr lang="en-US" sz="1050" dirty="0"/>
          </a:p>
        </p:txBody>
      </p:sp>
      <p:sp>
        <p:nvSpPr>
          <p:cNvPr id="22" name="Text 14"/>
          <p:cNvSpPr txBox="1"/>
          <p:nvPr/>
        </p:nvSpPr>
        <p:spPr>
          <a:xfrm>
            <a:off x="1143000" y="6762902"/>
            <a:ext cx="2286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FD1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500" dirty="0"/>
          </a:p>
        </p:txBody>
      </p:sp>
      <p:sp>
        <p:nvSpPr>
          <p:cNvPr id="23" name="Text 15"/>
          <p:cNvSpPr txBox="1"/>
          <p:nvPr/>
        </p:nvSpPr>
        <p:spPr>
          <a:xfrm>
            <a:off x="1466698" y="6767474"/>
            <a:ext cx="1830629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다채널 UART 동시 처리</a:t>
            </a:r>
            <a:endParaRPr lang="en-US" sz="1275" dirty="0"/>
          </a:p>
        </p:txBody>
      </p:sp>
      <p:sp>
        <p:nvSpPr>
          <p:cNvPr id="24" name="Text 16"/>
          <p:cNvSpPr txBox="1"/>
          <p:nvPr/>
        </p:nvSpPr>
        <p:spPr>
          <a:xfrm>
            <a:off x="4886554" y="6762902"/>
            <a:ext cx="2286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FD1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500" dirty="0"/>
          </a:p>
        </p:txBody>
      </p:sp>
      <p:sp>
        <p:nvSpPr>
          <p:cNvPr id="25" name="Text 17"/>
          <p:cNvSpPr txBox="1"/>
          <p:nvPr/>
        </p:nvSpPr>
        <p:spPr>
          <a:xfrm>
            <a:off x="5210251" y="6767474"/>
            <a:ext cx="1995221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Full Duplex TX/RX 지원</a:t>
            </a:r>
            <a:endParaRPr lang="en-US" sz="1275" dirty="0"/>
          </a:p>
        </p:txBody>
      </p:sp>
      <p:sp>
        <p:nvSpPr>
          <p:cNvPr id="26" name="Text 18"/>
          <p:cNvSpPr txBox="1"/>
          <p:nvPr/>
        </p:nvSpPr>
        <p:spPr>
          <a:xfrm>
            <a:off x="1143000" y="7144207"/>
            <a:ext cx="2286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FD1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500" dirty="0"/>
          </a:p>
        </p:txBody>
      </p:sp>
      <p:sp>
        <p:nvSpPr>
          <p:cNvPr id="27" name="Text 19"/>
          <p:cNvSpPr txBox="1"/>
          <p:nvPr/>
        </p:nvSpPr>
        <p:spPr>
          <a:xfrm>
            <a:off x="1466698" y="7148779"/>
            <a:ext cx="1474013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낮은 Latency 보장</a:t>
            </a:r>
            <a:endParaRPr lang="en-US" sz="1275" dirty="0"/>
          </a:p>
        </p:txBody>
      </p:sp>
      <p:sp>
        <p:nvSpPr>
          <p:cNvPr id="28" name="Text 20"/>
          <p:cNvSpPr txBox="1"/>
          <p:nvPr/>
        </p:nvSpPr>
        <p:spPr>
          <a:xfrm>
            <a:off x="4886554" y="7144207"/>
            <a:ext cx="2286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FD1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500" dirty="0"/>
          </a:p>
        </p:txBody>
      </p:sp>
      <p:sp>
        <p:nvSpPr>
          <p:cNvPr id="29" name="Text 21"/>
          <p:cNvSpPr txBox="1"/>
          <p:nvPr/>
        </p:nvSpPr>
        <p:spPr>
          <a:xfrm>
            <a:off x="5210251" y="7148779"/>
            <a:ext cx="1972361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Deterministic 전달 시간</a:t>
            </a:r>
            <a:endParaRPr lang="en-US" sz="1275" dirty="0"/>
          </a:p>
        </p:txBody>
      </p:sp>
      <p:sp>
        <p:nvSpPr>
          <p:cNvPr id="30" name="Text 22"/>
          <p:cNvSpPr txBox="1"/>
          <p:nvPr/>
        </p:nvSpPr>
        <p:spPr>
          <a:xfrm>
            <a:off x="1143000" y="7524598"/>
            <a:ext cx="2286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FD1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500" dirty="0"/>
          </a:p>
        </p:txBody>
      </p:sp>
      <p:sp>
        <p:nvSpPr>
          <p:cNvPr id="31" name="Text 23"/>
          <p:cNvSpPr txBox="1"/>
          <p:nvPr/>
        </p:nvSpPr>
        <p:spPr>
          <a:xfrm>
            <a:off x="1466698" y="7529170"/>
            <a:ext cx="1409090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FPGA 구현 단순화</a:t>
            </a:r>
            <a:endParaRPr lang="en-US" sz="1275" dirty="0"/>
          </a:p>
        </p:txBody>
      </p:sp>
      <p:sp>
        <p:nvSpPr>
          <p:cNvPr id="32" name="Text 24"/>
          <p:cNvSpPr txBox="1"/>
          <p:nvPr/>
        </p:nvSpPr>
        <p:spPr>
          <a:xfrm>
            <a:off x="4886554" y="7524598"/>
            <a:ext cx="22860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FD1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5210251" y="7529170"/>
            <a:ext cx="1370686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채널별 독립 처리</a:t>
            </a:r>
            <a:endParaRPr lang="en-US" sz="1275" dirty="0"/>
          </a:p>
        </p:txBody>
      </p:sp>
      <p:sp>
        <p:nvSpPr>
          <p:cNvPr id="34" name="Text 26"/>
          <p:cNvSpPr txBox="1"/>
          <p:nvPr/>
        </p:nvSpPr>
        <p:spPr>
          <a:xfrm>
            <a:off x="9144000" y="3238805"/>
            <a:ext cx="8382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225" kern="0" dirty="0">
                <a:solidFill>
                  <a:srgbClr val="3E8E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3-ITEM COMPOSITION</a:t>
            </a:r>
            <a:endParaRPr lang="en-US" sz="1050" dirty="0"/>
          </a:p>
        </p:txBody>
      </p:sp>
      <p:sp>
        <p:nvSpPr>
          <p:cNvPr id="35" name="Text 27"/>
          <p:cNvSpPr txBox="1"/>
          <p:nvPr/>
        </p:nvSpPr>
        <p:spPr>
          <a:xfrm>
            <a:off x="9144000" y="3486607"/>
            <a:ext cx="838230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본 제안은 아래 3개 아이템 개발 범위를 포함합니다</a:t>
            </a:r>
            <a:endParaRPr lang="en-US" sz="1800" dirty="0"/>
          </a:p>
        </p:txBody>
      </p:sp>
      <p:sp>
        <p:nvSpPr>
          <p:cNvPr id="36" name="Text 28"/>
          <p:cNvSpPr txBox="1"/>
          <p:nvPr/>
        </p:nvSpPr>
        <p:spPr>
          <a:xfrm>
            <a:off x="9525305" y="4238244"/>
            <a:ext cx="648310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3E8E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4200" dirty="0"/>
          </a:p>
        </p:txBody>
      </p:sp>
      <p:sp>
        <p:nvSpPr>
          <p:cNvPr id="37" name="Text 29"/>
          <p:cNvSpPr txBox="1"/>
          <p:nvPr/>
        </p:nvSpPr>
        <p:spPr>
          <a:xfrm>
            <a:off x="10317175" y="4429354"/>
            <a:ext cx="3610051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Converter (PSE)</a:t>
            </a:r>
            <a:endParaRPr lang="en-US" sz="1950" dirty="0"/>
          </a:p>
        </p:txBody>
      </p:sp>
      <p:sp>
        <p:nvSpPr>
          <p:cNvPr id="38" name="Text 30"/>
          <p:cNvSpPr txBox="1"/>
          <p:nvPr/>
        </p:nvSpPr>
        <p:spPr>
          <a:xfrm>
            <a:off x="10317175" y="4839005"/>
            <a:ext cx="426659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spc="38" kern="0" dirty="0">
                <a:solidFill>
                  <a:srgbClr val="6B7A8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송신 측 · Power Sourcing Equipment · D-sub → Hybrid</a:t>
            </a:r>
            <a:endParaRPr lang="en-US" sz="1125" dirty="0"/>
          </a:p>
        </p:txBody>
      </p:sp>
      <p:sp>
        <p:nvSpPr>
          <p:cNvPr id="39" name="Text 31"/>
          <p:cNvSpPr txBox="1"/>
          <p:nvPr/>
        </p:nvSpPr>
        <p:spPr>
          <a:xfrm>
            <a:off x="9525305" y="5181905"/>
            <a:ext cx="78108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2C3E5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RS422 → FPGA(SerDes) → TOSA/ROSA · 외부 전원 또는 USB 전원 입력</a:t>
            </a:r>
            <a:endParaRPr lang="en-US" sz="1125" dirty="0"/>
          </a:p>
        </p:txBody>
      </p:sp>
      <p:sp>
        <p:nvSpPr>
          <p:cNvPr id="40" name="Text 32"/>
          <p:cNvSpPr txBox="1"/>
          <p:nvPr/>
        </p:nvSpPr>
        <p:spPr>
          <a:xfrm>
            <a:off x="9525305" y="6048756"/>
            <a:ext cx="648310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4FD1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4200" dirty="0"/>
          </a:p>
        </p:txBody>
      </p:sp>
      <p:sp>
        <p:nvSpPr>
          <p:cNvPr id="41" name="Text 33"/>
          <p:cNvSpPr txBox="1"/>
          <p:nvPr/>
        </p:nvSpPr>
        <p:spPr>
          <a:xfrm>
            <a:off x="10317175" y="6238951"/>
            <a:ext cx="28575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Converter (PD)</a:t>
            </a:r>
            <a:endParaRPr lang="en-US" sz="1950" dirty="0"/>
          </a:p>
        </p:txBody>
      </p:sp>
      <p:sp>
        <p:nvSpPr>
          <p:cNvPr id="42" name="Text 34"/>
          <p:cNvSpPr txBox="1"/>
          <p:nvPr/>
        </p:nvSpPr>
        <p:spPr>
          <a:xfrm>
            <a:off x="10317175" y="6648602"/>
            <a:ext cx="3400654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spc="38" kern="0" dirty="0">
                <a:solidFill>
                  <a:srgbClr val="6B7A8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수신 측 · Powered Device · Hybrid → D-sub</a:t>
            </a:r>
            <a:endParaRPr lang="en-US" sz="1125" dirty="0"/>
          </a:p>
        </p:txBody>
      </p:sp>
      <p:sp>
        <p:nvSpPr>
          <p:cNvPr id="43" name="Text 35"/>
          <p:cNvSpPr txBox="1"/>
          <p:nvPr/>
        </p:nvSpPr>
        <p:spPr>
          <a:xfrm>
            <a:off x="9525305" y="6991502"/>
            <a:ext cx="78108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2C3E5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TOSA/ROSA → FPGA(SerDes) → RS422 · Hybrid Cable로 전원 수신</a:t>
            </a:r>
            <a:endParaRPr lang="en-US" sz="1125" dirty="0"/>
          </a:p>
        </p:txBody>
      </p:sp>
      <p:sp>
        <p:nvSpPr>
          <p:cNvPr id="44" name="Text 36"/>
          <p:cNvSpPr txBox="1"/>
          <p:nvPr/>
        </p:nvSpPr>
        <p:spPr>
          <a:xfrm>
            <a:off x="9525305" y="7858354"/>
            <a:ext cx="648310" cy="5340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2A0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4200" dirty="0"/>
          </a:p>
        </p:txBody>
      </p:sp>
      <p:sp>
        <p:nvSpPr>
          <p:cNvPr id="45" name="Text 37"/>
          <p:cNvSpPr txBox="1"/>
          <p:nvPr/>
        </p:nvSpPr>
        <p:spPr>
          <a:xfrm>
            <a:off x="10317175" y="8048549"/>
            <a:ext cx="2600554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Hybrid Cable</a:t>
            </a:r>
            <a:endParaRPr lang="en-US" sz="1950" dirty="0"/>
          </a:p>
        </p:txBody>
      </p:sp>
      <p:sp>
        <p:nvSpPr>
          <p:cNvPr id="46" name="Text 38"/>
          <p:cNvSpPr txBox="1"/>
          <p:nvPr/>
        </p:nvSpPr>
        <p:spPr>
          <a:xfrm>
            <a:off x="10317175" y="8458200"/>
            <a:ext cx="3095244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spc="38" kern="0" dirty="0">
                <a:solidFill>
                  <a:srgbClr val="6B7A8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 Fibers (신호) + 2 Copper (전원) 일체형</a:t>
            </a:r>
            <a:endParaRPr lang="en-US" sz="1125" dirty="0"/>
          </a:p>
        </p:txBody>
      </p:sp>
      <p:sp>
        <p:nvSpPr>
          <p:cNvPr id="47" name="Text 39"/>
          <p:cNvSpPr txBox="1"/>
          <p:nvPr/>
        </p:nvSpPr>
        <p:spPr>
          <a:xfrm>
            <a:off x="9525305" y="8801100"/>
            <a:ext cx="7810805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2C3E5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Single Mode Fiber(G657B3) · 전송 거리 10 m 이내 · Hybrid Connector 양단</a:t>
            </a:r>
            <a:endParaRPr lang="en-US" sz="1125" dirty="0"/>
          </a:p>
        </p:txBody>
      </p:sp>
      <p:sp>
        <p:nvSpPr>
          <p:cNvPr id="48" name="Text 40"/>
          <p:cNvSpPr txBox="1"/>
          <p:nvPr/>
        </p:nvSpPr>
        <p:spPr>
          <a:xfrm>
            <a:off x="761695" y="10001707"/>
            <a:ext cx="7620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6B7A8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© X-BEAM TECH · RS422 Optical Converter Proposal</a:t>
            </a:r>
            <a:endParaRPr lang="en-US" sz="1200" dirty="0"/>
          </a:p>
        </p:txBody>
      </p:sp>
      <p:sp>
        <p:nvSpPr>
          <p:cNvPr id="49" name="Text 41"/>
          <p:cNvSpPr txBox="1"/>
          <p:nvPr/>
        </p:nvSpPr>
        <p:spPr>
          <a:xfrm>
            <a:off x="16954805" y="10001707"/>
            <a:ext cx="762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0B1E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10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bbe9102593f4e087a7f9a8829596dda6.png">    </p:cNvPr>
          <p:cNvPicPr>
            <a:picLocks noChangeAspect="1"/>
          </p:cNvPicPr>
          <p:nvPr/>
        </p:nvPicPr>
        <p:blipFill>
          <a:blip r:embed="rId1"/>
          <a:srcRect l="0" r="0" t="-18" b="-18"/>
          <a:stretch/>
        </p:blipFill>
        <p:spPr>
          <a:xfrm>
            <a:off x="0" y="0"/>
            <a:ext cx="18288000" cy="83850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868205"/>
            <a:ext cx="18288000" cy="428854"/>
          </a:xfrm>
          <a:prstGeom prst="rect">
            <a:avLst/>
          </a:prstGeom>
          <a:solidFill>
            <a:srgbClr val="EBF0F5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9868205"/>
            <a:ext cx="18288000" cy="9144"/>
          </a:xfrm>
          <a:prstGeom prst="rect">
            <a:avLst/>
          </a:prstGeom>
          <a:solidFill>
            <a:srgbClr val="D5DDE7"/>
          </a:solidFill>
          <a:ln w="12700">
            <a:solidFill>
              <a:srgbClr val="D5DDE7">
                <a:alpha val="0"/>
              </a:srgbClr>
            </a:solidFill>
            <a:prstDash val="solid"/>
          </a:ln>
        </p:spPr>
      </p:sp>
      <p:pic>
        <p:nvPicPr>
          <p:cNvPr id="5" name="Image 1" descr="gen-dedup-b7e8a7c372762fd4b6f835565dfc891b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71500" y="1619402"/>
            <a:ext cx="17145000" cy="74295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71500" y="9144000"/>
            <a:ext cx="17145000" cy="571500"/>
          </a:xfrm>
          <a:prstGeom prst="rect">
            <a:avLst/>
          </a:prstGeom>
          <a:solidFill>
            <a:srgbClr val="0B1E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61695" y="190195"/>
            <a:ext cx="76206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b="1" spc="225" kern="0" dirty="0">
                <a:solidFill>
                  <a:srgbClr val="4FD1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SYSTEM ARCHITECTURE</a:t>
            </a:r>
            <a:endParaRPr lang="en-US" sz="825" dirty="0"/>
          </a:p>
        </p:txBody>
      </p:sp>
      <p:sp>
        <p:nvSpPr>
          <p:cNvPr id="8" name="Text 4"/>
          <p:cNvSpPr txBox="1"/>
          <p:nvPr/>
        </p:nvSpPr>
        <p:spPr>
          <a:xfrm>
            <a:off x="761695" y="362102"/>
            <a:ext cx="76206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spc="-37" kern="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개발 아이템 구성도</a:t>
            </a:r>
            <a:endParaRPr lang="en-US" sz="2100" dirty="0"/>
          </a:p>
        </p:txBody>
      </p:sp>
      <p:sp>
        <p:nvSpPr>
          <p:cNvPr id="9" name="Text 5"/>
          <p:cNvSpPr txBox="1"/>
          <p:nvPr/>
        </p:nvSpPr>
        <p:spPr>
          <a:xfrm>
            <a:off x="15430500" y="323698"/>
            <a:ext cx="2095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b="1" spc="300" kern="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XBEAM TECH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761695" y="1143000"/>
            <a:ext cx="2934310" cy="305410"/>
          </a:xfrm>
          <a:prstGeom prst="rect">
            <a:avLst/>
          </a:prstGeom>
          <a:solidFill>
            <a:srgbClr val="3E8ED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63500" rIns="152400" bIns="63500" rtlCol="0" anchor="ctr"/>
          <a:lstStyle/>
          <a:p>
            <a:pPr algn="l" indent="0" marL="0">
              <a:buNone/>
            </a:pPr>
            <a:r>
              <a:rPr lang="en-US" sz="1125" b="1" spc="15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ITEM 01 · CONVERTER (PSE)</a:t>
            </a:r>
            <a:endParaRPr lang="en-US" sz="1125" dirty="0"/>
          </a:p>
        </p:txBody>
      </p:sp>
      <p:sp>
        <p:nvSpPr>
          <p:cNvPr id="11" name="Text 7"/>
          <p:cNvSpPr txBox="1"/>
          <p:nvPr/>
        </p:nvSpPr>
        <p:spPr>
          <a:xfrm>
            <a:off x="11144707" y="1143000"/>
            <a:ext cx="2829154" cy="305410"/>
          </a:xfrm>
          <a:prstGeom prst="rect">
            <a:avLst/>
          </a:prstGeom>
          <a:solidFill>
            <a:srgbClr val="4FD1C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63500" rIns="152400" bIns="63500" rtlCol="0" anchor="ctr"/>
          <a:lstStyle/>
          <a:p>
            <a:pPr algn="l" indent="0" marL="0">
              <a:buNone/>
            </a:pPr>
            <a:r>
              <a:rPr lang="en-US" sz="1125" b="1" spc="150" kern="0" dirty="0">
                <a:solidFill>
                  <a:srgbClr val="0B1E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ITEM 02 · CONVERTER (PD)</a:t>
            </a:r>
            <a:endParaRPr lang="en-US" sz="1125" dirty="0"/>
          </a:p>
        </p:txBody>
      </p:sp>
      <p:sp>
        <p:nvSpPr>
          <p:cNvPr id="12" name="Text 8"/>
          <p:cNvSpPr txBox="1"/>
          <p:nvPr/>
        </p:nvSpPr>
        <p:spPr>
          <a:xfrm>
            <a:off x="8300923" y="1143000"/>
            <a:ext cx="1886407" cy="305410"/>
          </a:xfrm>
          <a:prstGeom prst="rect">
            <a:avLst/>
          </a:prstGeom>
          <a:solidFill>
            <a:srgbClr val="F2A03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52400" tIns="63500" rIns="152400" bIns="63500" rtlCol="0" anchor="ctr"/>
          <a:lstStyle/>
          <a:p>
            <a:pPr algn="ctr" indent="0" marL="0">
              <a:buNone/>
            </a:pPr>
            <a:r>
              <a:rPr lang="en-US" sz="1125" b="1" spc="15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ITEM 03 · CABLE</a:t>
            </a:r>
            <a:endParaRPr lang="en-US" sz="1125" dirty="0"/>
          </a:p>
        </p:txBody>
      </p:sp>
      <p:sp>
        <p:nvSpPr>
          <p:cNvPr id="13" name="Text 9"/>
          <p:cNvSpPr txBox="1"/>
          <p:nvPr/>
        </p:nvSpPr>
        <p:spPr>
          <a:xfrm>
            <a:off x="761695" y="9296705"/>
            <a:ext cx="27432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13" kern="0" dirty="0">
                <a:solidFill>
                  <a:srgbClr val="4FD1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›</a:t>
            </a:r>
            <a:pPr algn="l" indent="0" marL="0">
              <a:buNone/>
            </a:pPr>
            <a:r>
              <a:rPr lang="en-US" sz="1050" spc="113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CHANNEL SPEED · 1 or 8 Mbps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5175504" y="9296705"/>
            <a:ext cx="1800454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13" kern="0" dirty="0">
                <a:solidFill>
                  <a:srgbClr val="4FD1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›</a:t>
            </a:r>
            <a:pPr algn="l" indent="0" marL="0">
              <a:buNone/>
            </a:pPr>
            <a:r>
              <a:rPr lang="en-US" sz="1050" spc="113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FIBER · G657B3 SM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8645652" y="9296705"/>
            <a:ext cx="1800454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13" kern="0" dirty="0">
                <a:solidFill>
                  <a:srgbClr val="4FD1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›</a:t>
            </a:r>
            <a:pPr algn="l" indent="0" marL="0">
              <a:buNone/>
            </a:pPr>
            <a:r>
              <a:rPr lang="en-US" sz="1050" spc="113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DISTANCE · ≤ 10 m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12115800" y="9286646"/>
            <a:ext cx="18480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13" kern="0" dirty="0">
                <a:solidFill>
                  <a:srgbClr val="4FD1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›</a:t>
            </a:r>
            <a:pPr algn="l" indent="0" marL="0">
              <a:buNone/>
            </a:pPr>
            <a:r>
              <a:rPr lang="en-US" sz="1050" spc="113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TEMP · −40 ~ 85 ℃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15639898" y="9296705"/>
            <a:ext cx="1895551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spc="113" kern="0" dirty="0">
                <a:solidFill>
                  <a:srgbClr val="4FD1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›</a:t>
            </a:r>
            <a:pPr algn="l" indent="0" marL="0">
              <a:buNone/>
            </a:pPr>
            <a:r>
              <a:rPr lang="en-US" sz="1050" spc="113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POWER · via Copper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761695" y="10001707"/>
            <a:ext cx="7620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6B7A8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© X-BEAM TECH · RS422 Optical Converter Proposal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16954805" y="10001707"/>
            <a:ext cx="762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0B1E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10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bbe9102593f4e087a7f9a8829596dda6.png">    </p:cNvPr>
          <p:cNvPicPr>
            <a:picLocks noChangeAspect="1"/>
          </p:cNvPicPr>
          <p:nvPr/>
        </p:nvPicPr>
        <p:blipFill>
          <a:blip r:embed="rId1"/>
          <a:srcRect l="0" r="0" t="-18" b="-18"/>
          <a:stretch/>
        </p:blipFill>
        <p:spPr>
          <a:xfrm>
            <a:off x="0" y="0"/>
            <a:ext cx="18288000" cy="83850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868205"/>
            <a:ext cx="18288000" cy="428854"/>
          </a:xfrm>
          <a:prstGeom prst="rect">
            <a:avLst/>
          </a:prstGeom>
          <a:solidFill>
            <a:srgbClr val="EBF0F5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9868205"/>
            <a:ext cx="18288000" cy="9144"/>
          </a:xfrm>
          <a:prstGeom prst="rect">
            <a:avLst/>
          </a:prstGeom>
          <a:solidFill>
            <a:srgbClr val="D5DDE7"/>
          </a:solidFill>
          <a:ln w="12700">
            <a:solidFill>
              <a:srgbClr val="D5DDE7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096598" y="2572207"/>
            <a:ext cx="5429707" cy="3238805"/>
          </a:xfrm>
          <a:prstGeom prst="rect">
            <a:avLst/>
          </a:prstGeom>
          <a:solidFill>
            <a:srgbClr val="0B1E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096598" y="6096305"/>
            <a:ext cx="5467198" cy="2704795"/>
          </a:xfrm>
          <a:prstGeom prst="rect">
            <a:avLst/>
          </a:prstGeom>
          <a:solidFill>
            <a:srgbClr val="FFFFFF"/>
          </a:solidFill>
          <a:ln w="25400">
            <a:solidFill>
              <a:srgbClr val="3E8EDE"/>
            </a:solidFill>
            <a:prstDash val="solid"/>
          </a:ln>
        </p:spPr>
      </p:sp>
      <p:pic>
        <p:nvPicPr>
          <p:cNvPr id="7" name="Image 1" descr="gen-dedup-008e039aa0607660e827455207d8581b.png">    </p:cNvPr>
          <p:cNvPicPr>
            <a:picLocks noChangeAspect="1"/>
          </p:cNvPicPr>
          <p:nvPr/>
        </p:nvPicPr>
        <p:blipFill>
          <a:blip r:embed="rId2"/>
          <a:srcRect l="-2" r="-2" t="0" b="0"/>
          <a:stretch/>
        </p:blipFill>
        <p:spPr>
          <a:xfrm>
            <a:off x="761695" y="7905902"/>
            <a:ext cx="10916107" cy="1143000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1695" y="2572207"/>
          <a:ext cx="10858500" cy="4439412"/>
        </p:xfrm>
        <a:graphic>
          <a:graphicData uri="http://schemas.openxmlformats.org/drawingml/2006/table">
            <a:tbl>
              <a:tblPr/>
              <a:tblGrid>
                <a:gridCol w="1028700"/>
                <a:gridCol w="3124505"/>
                <a:gridCol w="6705295"/>
              </a:tblGrid>
              <a:tr h="55492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#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228600" marR="228600" marT="171907" marB="171907" anchor="ctr">
                    <a:lnL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항목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228600" marR="228600" marT="171907" marB="171907" anchor="ctr">
                    <a:lnL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사양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228600" marR="228600" marT="171907" marB="171907" anchor="ctr">
                    <a:lnL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F"/>
                    </a:solidFill>
                  </a:tcPr>
                </a:tc>
              </a:tr>
              <a:tr h="5549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3E8EDE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01</a:t>
                      </a:r>
                      <a:endParaRPr lang="en-US" sz="1125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b="1" dirty="0">
                          <a:solidFill>
                            <a:srgbClr val="0B1E3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RS422 입력 속도</a:t>
                      </a:r>
                      <a:endParaRPr lang="en-US" sz="127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b="1" dirty="0">
                          <a:solidFill>
                            <a:srgbClr val="0B1E3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 ~ 8 Mbps</a:t>
                      </a:r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B7A8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/ Channel</a:t>
                      </a:r>
                      <a:endParaRPr lang="en-US" sz="1200" dirty="0"/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49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3E8EDE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02</a:t>
                      </a:r>
                      <a:endParaRPr lang="en-US" sz="1125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b="1" dirty="0">
                          <a:solidFill>
                            <a:srgbClr val="0B1E3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RS422 최대 신호수</a:t>
                      </a:r>
                      <a:endParaRPr lang="en-US" sz="127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b="1" dirty="0">
                          <a:solidFill>
                            <a:srgbClr val="0B1E3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4 채널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E85D5D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(Test 버전)</a:t>
                      </a:r>
                      <a:endParaRPr lang="en-US" sz="1200" dirty="0"/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549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3E8EDE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03</a:t>
                      </a:r>
                      <a:endParaRPr lang="en-US" sz="1125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b="1" dirty="0">
                          <a:solidFill>
                            <a:srgbClr val="0B1E3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광 포트</a:t>
                      </a:r>
                      <a:endParaRPr lang="en-US" sz="127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0B1E3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Hybrid Connector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2A03D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[TBD]</a:t>
                      </a:r>
                      <a:endParaRPr lang="en-US" sz="1200" dirty="0"/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49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3E8EDE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04</a:t>
                      </a:r>
                      <a:endParaRPr lang="en-US" sz="1125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b="1" dirty="0">
                          <a:solidFill>
                            <a:srgbClr val="0B1E3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광섬유</a:t>
                      </a:r>
                      <a:endParaRPr lang="en-US" sz="127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0B1E3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Single Mode </a:t>
                      </a:r>
                      <a:pPr indent="0" marL="0">
                        <a:buNone/>
                      </a:pPr>
                      <a:r>
                        <a:rPr lang="en-US" sz="1275" b="1" dirty="0">
                          <a:solidFill>
                            <a:srgbClr val="0B1E3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G657B3</a:t>
                      </a:r>
                      <a:endParaRPr lang="en-US" sz="1200" dirty="0"/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549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3E8EDE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05</a:t>
                      </a:r>
                      <a:endParaRPr lang="en-US" sz="1125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b="1" dirty="0">
                          <a:solidFill>
                            <a:srgbClr val="0B1E3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광 전송 거리</a:t>
                      </a:r>
                      <a:endParaRPr lang="en-US" sz="127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b="1" dirty="0">
                          <a:solidFill>
                            <a:srgbClr val="0B1E3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≤ 10 m</a:t>
                      </a:r>
                      <a:endParaRPr lang="en-US" sz="1200" dirty="0"/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49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3E8EDE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06</a:t>
                      </a:r>
                      <a:endParaRPr lang="en-US" sz="1125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b="1" dirty="0">
                          <a:solidFill>
                            <a:srgbClr val="0B1E3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사이즈</a:t>
                      </a:r>
                      <a:endParaRPr lang="en-US" sz="127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rgbClr val="0B1E3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가능한 작게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2A03D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[TBD]</a:t>
                      </a:r>
                      <a:endParaRPr lang="en-US" sz="1200" dirty="0"/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5492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3E8EDE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07</a:t>
                      </a:r>
                      <a:endParaRPr lang="en-US" sz="1125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b="1" dirty="0">
                          <a:solidFill>
                            <a:srgbClr val="0B1E3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운용 온도</a:t>
                      </a:r>
                      <a:endParaRPr lang="en-US" sz="127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b="1" dirty="0">
                          <a:solidFill>
                            <a:srgbClr val="0B1E3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−40 ~ 85 ℃</a:t>
                      </a:r>
                      <a:endParaRPr lang="en-US" sz="1200" dirty="0"/>
                    </a:p>
                  </a:txBody>
                  <a:tcPr marL="228600" marR="228600" marT="152705" marB="152705" anchor="ctr">
                    <a:lnL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4FD1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761695" y="190195"/>
            <a:ext cx="76206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b="1" spc="225" kern="0" dirty="0">
                <a:solidFill>
                  <a:srgbClr val="4FD1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SPECIFICATION</a:t>
            </a:r>
            <a:endParaRPr lang="en-US" sz="825" dirty="0"/>
          </a:p>
        </p:txBody>
      </p:sp>
      <p:sp>
        <p:nvSpPr>
          <p:cNvPr id="10" name="Text 5"/>
          <p:cNvSpPr txBox="1"/>
          <p:nvPr/>
        </p:nvSpPr>
        <p:spPr>
          <a:xfrm>
            <a:off x="761695" y="362102"/>
            <a:ext cx="76206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spc="-37" kern="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개발 사양표 · Item #1-2</a:t>
            </a:r>
            <a:endParaRPr lang="en-US" sz="2100" dirty="0"/>
          </a:p>
        </p:txBody>
      </p:sp>
      <p:sp>
        <p:nvSpPr>
          <p:cNvPr id="11" name="Text 6"/>
          <p:cNvSpPr txBox="1"/>
          <p:nvPr/>
        </p:nvSpPr>
        <p:spPr>
          <a:xfrm>
            <a:off x="15430500" y="323698"/>
            <a:ext cx="2095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b="1" spc="300" kern="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XBEAM TECH</a:t>
            </a:r>
            <a:endParaRPr lang="en-US" sz="1050" dirty="0"/>
          </a:p>
        </p:txBody>
      </p:sp>
      <p:sp>
        <p:nvSpPr>
          <p:cNvPr id="12" name="Text 7"/>
          <p:cNvSpPr txBox="1"/>
          <p:nvPr/>
        </p:nvSpPr>
        <p:spPr>
          <a:xfrm>
            <a:off x="761695" y="1238098"/>
            <a:ext cx="13335610" cy="5056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600" b="1" spc="-75" kern="0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Test Version (4채널) 개발 사양</a:t>
            </a:r>
            <a:endParaRPr lang="en-US" sz="3600" dirty="0"/>
          </a:p>
        </p:txBody>
      </p:sp>
      <p:sp>
        <p:nvSpPr>
          <p:cNvPr id="13" name="Text 8"/>
          <p:cNvSpPr txBox="1"/>
          <p:nvPr/>
        </p:nvSpPr>
        <p:spPr>
          <a:xfrm>
            <a:off x="761695" y="1855318"/>
            <a:ext cx="13335610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A8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RS422 ↔ 광 컨버터 · 4채널 검증용 시제품 규격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2382805" y="2857500"/>
            <a:ext cx="4858207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225" kern="0" dirty="0">
                <a:solidFill>
                  <a:srgbClr val="4FD1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TEST SCOPE NOTE</a:t>
            </a:r>
            <a:endParaRPr lang="en-US" sz="975" dirty="0"/>
          </a:p>
        </p:txBody>
      </p:sp>
      <p:sp>
        <p:nvSpPr>
          <p:cNvPr id="15" name="Text 10"/>
          <p:cNvSpPr txBox="1"/>
          <p:nvPr/>
        </p:nvSpPr>
        <p:spPr>
          <a:xfrm>
            <a:off x="12382805" y="3133649"/>
            <a:ext cx="485820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b="1" spc="-22" kern="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기능 시험 시료 범위에서</a:t>
            </a:r>
            <a:pPr algn="l" indent="0" marL="0">
              <a:lnSpc>
                <a:spcPct val="135000"/>
              </a:lnSpc>
              <a:buNone/>
            </a:pPr>
            <a:endParaRPr lang="en-US" sz="19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950" b="1" spc="-22" kern="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일부 환경 사양 제외</a:t>
            </a:r>
            <a:endParaRPr lang="en-US" sz="1950" dirty="0"/>
          </a:p>
        </p:txBody>
      </p:sp>
      <p:pic>
        <p:nvPicPr>
          <p:cNvPr id="16" name="Image 2" descr="gen-dedup-63b3dc88ec866c9c9549c88f458b1094.png">    </p:cNvPr>
          <p:cNvPicPr>
            <a:picLocks noChangeAspect="1"/>
          </p:cNvPicPr>
          <p:nvPr/>
        </p:nvPicPr>
        <p:blipFill>
          <a:blip r:embed="rId3"/>
          <a:srcRect l="-404" r="-404" t="0" b="0"/>
          <a:stretch/>
        </p:blipFill>
        <p:spPr>
          <a:xfrm>
            <a:off x="12382805" y="3993185"/>
            <a:ext cx="571500" cy="2834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382805" y="4169664"/>
            <a:ext cx="4858207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A8CBF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본 시료는 </a:t>
            </a:r>
            <a:pPr algn="l" indent="0" marL="0">
              <a:lnSpc>
                <a:spcPts val="21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기능 검증용</a:t>
            </a:r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A8CBF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이므로</a:t>
            </a:r>
            <a:pPr algn="l" indent="0" marL="0">
              <a:lnSpc>
                <a:spcPts val="2100"/>
              </a:lnSpc>
              <a:buNone/>
            </a:pP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A8CBF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아래 사양은 이번 단계에서 제외합니다.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12382805" y="4916729"/>
            <a:ext cx="4858207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E85D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✕</a:t>
            </a:r>
            <a:pPr algn="l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진동 · 충격 등 환경 사양</a:t>
            </a:r>
            <a:endParaRPr lang="en-US" sz="1125" dirty="0"/>
          </a:p>
        </p:txBody>
      </p:sp>
      <p:sp>
        <p:nvSpPr>
          <p:cNvPr id="19" name="Text 13"/>
          <p:cNvSpPr txBox="1"/>
          <p:nvPr/>
        </p:nvSpPr>
        <p:spPr>
          <a:xfrm>
            <a:off x="12382805" y="5188306"/>
            <a:ext cx="4858207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E85D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✕</a:t>
            </a:r>
            <a:pPr algn="l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전자기 적합성 (EMC)</a:t>
            </a:r>
            <a:endParaRPr lang="en-US" sz="1125" dirty="0"/>
          </a:p>
        </p:txBody>
      </p:sp>
      <p:sp>
        <p:nvSpPr>
          <p:cNvPr id="20" name="Text 14"/>
          <p:cNvSpPr txBox="1"/>
          <p:nvPr/>
        </p:nvSpPr>
        <p:spPr>
          <a:xfrm>
            <a:off x="12382805" y="6381598"/>
            <a:ext cx="4858207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225" kern="0" dirty="0">
                <a:solidFill>
                  <a:srgbClr val="3E8E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EXTENSION TARGET</a:t>
            </a:r>
            <a:endParaRPr lang="en-US" sz="975" dirty="0"/>
          </a:p>
        </p:txBody>
      </p:sp>
      <p:sp>
        <p:nvSpPr>
          <p:cNvPr id="21" name="Text 15"/>
          <p:cNvSpPr txBox="1"/>
          <p:nvPr/>
        </p:nvSpPr>
        <p:spPr>
          <a:xfrm>
            <a:off x="12382805" y="6657746"/>
            <a:ext cx="4858207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최종 </a:t>
            </a:r>
            <a:pPr algn="l" indent="0" marL="0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3E8ED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64채널</a:t>
            </a:r>
            <a:pPr algn="l" indent="0" marL="0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확장 시</a:t>
            </a:r>
            <a:pPr algn="l" indent="0" marL="0">
              <a:lnSpc>
                <a:spcPct val="135000"/>
              </a:lnSpc>
              <a:buNone/>
            </a:pPr>
            <a:endParaRPr lang="en-US" sz="19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동일 프레임 구조 유지</a:t>
            </a:r>
            <a:endParaRPr lang="en-US" sz="1950" dirty="0"/>
          </a:p>
        </p:txBody>
      </p:sp>
      <p:sp>
        <p:nvSpPr>
          <p:cNvPr id="22" name="Text 16"/>
          <p:cNvSpPr txBox="1"/>
          <p:nvPr/>
        </p:nvSpPr>
        <p:spPr>
          <a:xfrm>
            <a:off x="12382805" y="7462418"/>
            <a:ext cx="4858207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125" dirty="0">
                <a:solidFill>
                  <a:srgbClr val="2C3E5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본 4채널 시료는 최종 64채널 제품과</a:t>
            </a:r>
            <a:pPr algn="l" indent="0" marL="0">
              <a:lnSpc>
                <a:spcPts val="1913"/>
              </a:lnSpc>
              <a:buNone/>
            </a:pPr>
            <a:endParaRPr lang="en-US" sz="1125" dirty="0"/>
          </a:p>
          <a:p>
            <a:pPr algn="l" indent="0" marL="0">
              <a:lnSpc>
                <a:spcPts val="1913"/>
              </a:lnSpc>
              <a:buNone/>
            </a:pPr>
            <a:r>
              <a:rPr lang="en-US" sz="1125" b="1" dirty="0">
                <a:solidFill>
                  <a:srgbClr val="2C3E5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동일한 FPGA, 광 인터페이스, 프레임 프로토콜</a:t>
            </a:r>
            <a:pPr algn="l" indent="0" marL="0">
              <a:lnSpc>
                <a:spcPts val="1913"/>
              </a:lnSpc>
              <a:buNone/>
            </a:pPr>
            <a:r>
              <a:rPr lang="en-US" sz="1125" dirty="0">
                <a:solidFill>
                  <a:srgbClr val="2C3E5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을 사용합니다.</a:t>
            </a:r>
            <a:pPr algn="l" indent="0" marL="0">
              <a:lnSpc>
                <a:spcPts val="1913"/>
              </a:lnSpc>
              <a:buNone/>
            </a:pPr>
            <a:endParaRPr lang="en-US" sz="1125" dirty="0"/>
          </a:p>
          <a:p>
            <a:pPr algn="l" indent="0" marL="0">
              <a:lnSpc>
                <a:spcPts val="1913"/>
              </a:lnSpc>
              <a:buNone/>
            </a:pPr>
            <a:r>
              <a:rPr lang="en-US" sz="1125" dirty="0">
                <a:solidFill>
                  <a:srgbClr val="2C3E5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 채널 수만 확장하면 재개발 없이 스케일업 가능</a:t>
            </a:r>
            <a:endParaRPr lang="en-US" sz="1125" dirty="0"/>
          </a:p>
        </p:txBody>
      </p:sp>
      <p:sp>
        <p:nvSpPr>
          <p:cNvPr id="23" name="Text 17"/>
          <p:cNvSpPr txBox="1"/>
          <p:nvPr/>
        </p:nvSpPr>
        <p:spPr>
          <a:xfrm>
            <a:off x="1047902" y="8143646"/>
            <a:ext cx="4124858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225" kern="0" dirty="0">
                <a:solidFill>
                  <a:srgbClr val="2E7D5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TEST BANDWIDTH</a:t>
            </a:r>
            <a:endParaRPr lang="en-US" sz="900" dirty="0"/>
          </a:p>
        </p:txBody>
      </p:sp>
      <p:sp>
        <p:nvSpPr>
          <p:cNvPr id="24" name="Text 18"/>
          <p:cNvSpPr txBox="1"/>
          <p:nvPr/>
        </p:nvSpPr>
        <p:spPr>
          <a:xfrm>
            <a:off x="1047902" y="8334756"/>
            <a:ext cx="412485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E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 × 8 Mbps = 32 Mbps</a:t>
            </a:r>
            <a:endParaRPr lang="en-US" sz="2700" dirty="0"/>
          </a:p>
        </p:txBody>
      </p:sp>
      <p:sp>
        <p:nvSpPr>
          <p:cNvPr id="25" name="Text 19"/>
          <p:cNvSpPr txBox="1"/>
          <p:nvPr/>
        </p:nvSpPr>
        <p:spPr>
          <a:xfrm>
            <a:off x="5544007" y="8238744"/>
            <a:ext cx="24780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E7D5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endParaRPr lang="en-US" sz="2400" dirty="0"/>
          </a:p>
        </p:txBody>
      </p:sp>
      <p:sp>
        <p:nvSpPr>
          <p:cNvPr id="26" name="Text 20"/>
          <p:cNvSpPr txBox="1"/>
          <p:nvPr/>
        </p:nvSpPr>
        <p:spPr>
          <a:xfrm>
            <a:off x="6165799" y="8143646"/>
            <a:ext cx="2772461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225" kern="0" dirty="0">
                <a:solidFill>
                  <a:srgbClr val="2E7D5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FIBER LINK CAPACITY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6165799" y="8334756"/>
            <a:ext cx="405902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B1E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 Gbps </a:t>
            </a:r>
            <a:pPr algn="l" indent="0" marL="0">
              <a:buNone/>
            </a:pPr>
            <a:r>
              <a:rPr lang="en-US" sz="1500" b="1" dirty="0">
                <a:solidFill>
                  <a:srgbClr val="2E7D5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(≈ 30배 여유)</a:t>
            </a:r>
            <a:endParaRPr lang="en-US" sz="2700" dirty="0"/>
          </a:p>
        </p:txBody>
      </p:sp>
      <p:sp>
        <p:nvSpPr>
          <p:cNvPr id="28" name="Text 22"/>
          <p:cNvSpPr txBox="1"/>
          <p:nvPr/>
        </p:nvSpPr>
        <p:spPr>
          <a:xfrm>
            <a:off x="761695" y="10001707"/>
            <a:ext cx="7620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6B7A8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© X-BEAM TECH · RS422 Optical Converter Proposal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16954805" y="10001707"/>
            <a:ext cx="762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0B1E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10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bbe9102593f4e087a7f9a8829596dda6.png">    </p:cNvPr>
          <p:cNvPicPr>
            <a:picLocks noChangeAspect="1"/>
          </p:cNvPicPr>
          <p:nvPr/>
        </p:nvPicPr>
        <p:blipFill>
          <a:blip r:embed="rId1"/>
          <a:srcRect l="0" r="0" t="-18" b="-18"/>
          <a:stretch/>
        </p:blipFill>
        <p:spPr>
          <a:xfrm>
            <a:off x="0" y="0"/>
            <a:ext cx="18288000" cy="83850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868205"/>
            <a:ext cx="18288000" cy="428854"/>
          </a:xfrm>
          <a:prstGeom prst="rect">
            <a:avLst/>
          </a:prstGeom>
          <a:solidFill>
            <a:srgbClr val="EBF0F5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9868205"/>
            <a:ext cx="18288000" cy="9144"/>
          </a:xfrm>
          <a:prstGeom prst="rect">
            <a:avLst/>
          </a:prstGeom>
          <a:solidFill>
            <a:srgbClr val="D5DDE7"/>
          </a:solidFill>
          <a:ln w="12700">
            <a:solidFill>
              <a:srgbClr val="D5DDE7">
                <a:alpha val="0"/>
              </a:srgbClr>
            </a:solidFill>
            <a:prstDash val="solid"/>
          </a:ln>
        </p:spPr>
      </p:sp>
      <p:pic>
        <p:nvPicPr>
          <p:cNvPr id="5" name="Image 1" descr="gen-dedup-b3fc7321b3903140033a6f9aa397fe02.png">    </p:cNvPr>
          <p:cNvPicPr>
            <a:picLocks noChangeAspect="1"/>
          </p:cNvPicPr>
          <p:nvPr/>
        </p:nvPicPr>
        <p:blipFill>
          <a:blip r:embed="rId2"/>
          <a:srcRect l="0" r="0" t="-1" b="-1"/>
          <a:stretch/>
        </p:blipFill>
        <p:spPr>
          <a:xfrm>
            <a:off x="761695" y="2476195"/>
            <a:ext cx="8382305" cy="6915607"/>
          </a:xfrm>
          <a:prstGeom prst="rect">
            <a:avLst/>
          </a:prstGeom>
        </p:spPr>
      </p:pic>
      <p:pic>
        <p:nvPicPr>
          <p:cNvPr id="6" name="Image 2" descr="gen-dedup-0c89f07346af89217b8b8c613570209d.png">    </p:cNvPr>
          <p:cNvPicPr>
            <a:picLocks noChangeAspect="1"/>
          </p:cNvPicPr>
          <p:nvPr/>
        </p:nvPicPr>
        <p:blipFill>
          <a:blip r:embed="rId3"/>
          <a:srcRect l="0" r="0" t="-1" b="-1"/>
          <a:stretch/>
        </p:blipFill>
        <p:spPr>
          <a:xfrm>
            <a:off x="9334195" y="2476195"/>
            <a:ext cx="8382305" cy="6915607"/>
          </a:xfrm>
          <a:prstGeom prst="rect">
            <a:avLst/>
          </a:prstGeom>
        </p:spPr>
      </p:pic>
      <p:pic>
        <p:nvPicPr>
          <p:cNvPr id="7" name="Image 3" descr="gen-dedup-8737e429ccac2a3fc8e2e9897a6fbdad.png">    </p:cNvPr>
          <p:cNvPicPr>
            <a:picLocks noChangeAspect="1"/>
          </p:cNvPicPr>
          <p:nvPr/>
        </p:nvPicPr>
        <p:blipFill>
          <a:blip r:embed="rId4"/>
          <a:srcRect l="0" r="0" t="-18" b="-18"/>
          <a:stretch/>
        </p:blipFill>
        <p:spPr>
          <a:xfrm>
            <a:off x="1143000" y="3905402"/>
            <a:ext cx="7619695" cy="952805"/>
          </a:xfrm>
          <a:prstGeom prst="rect">
            <a:avLst/>
          </a:prstGeom>
        </p:spPr>
      </p:pic>
      <p:sp>
        <p:nvSpPr>
          <p:cNvPr id="8" name="Shape 2"/>
          <p:cNvSpPr/>
          <p:nvPr/>
        </p:nvSpPr>
        <p:spPr>
          <a:xfrm>
            <a:off x="1143000" y="8572500"/>
            <a:ext cx="7658100" cy="571500"/>
          </a:xfrm>
          <a:prstGeom prst="rect">
            <a:avLst/>
          </a:prstGeom>
          <a:solidFill>
            <a:srgbClr val="EBF6EE"/>
          </a:solidFill>
          <a:ln/>
        </p:spPr>
      </p:sp>
      <p:sp>
        <p:nvSpPr>
          <p:cNvPr id="9" name="Shape 3"/>
          <p:cNvSpPr/>
          <p:nvPr/>
        </p:nvSpPr>
        <p:spPr>
          <a:xfrm>
            <a:off x="1143000" y="8572500"/>
            <a:ext cx="38405" cy="571500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>
                <a:alpha val="0"/>
              </a:srgbClr>
            </a:solidFill>
            <a:prstDash val="solid"/>
          </a:ln>
        </p:spPr>
      </p:sp>
      <p:pic>
        <p:nvPicPr>
          <p:cNvPr id="10" name="Image 4" descr="gen-dedup-a65c21f2935fdf812b4ed709f505dcb8.png">    </p:cNvPr>
          <p:cNvPicPr>
            <a:picLocks noChangeAspect="1"/>
          </p:cNvPicPr>
          <p:nvPr/>
        </p:nvPicPr>
        <p:blipFill>
          <a:blip r:embed="rId5"/>
          <a:srcRect l="0" r="0" t="-18" b="-18"/>
          <a:stretch/>
        </p:blipFill>
        <p:spPr>
          <a:xfrm>
            <a:off x="9715500" y="3905402"/>
            <a:ext cx="7619695" cy="952805"/>
          </a:xfrm>
          <a:prstGeom prst="rect">
            <a:avLst/>
          </a:prstGeom>
        </p:spPr>
      </p:pic>
      <p:sp>
        <p:nvSpPr>
          <p:cNvPr id="11" name="Shape 4"/>
          <p:cNvSpPr/>
          <p:nvPr/>
        </p:nvSpPr>
        <p:spPr>
          <a:xfrm>
            <a:off x="9715500" y="8572500"/>
            <a:ext cx="7658100" cy="571500"/>
          </a:xfrm>
          <a:prstGeom prst="rect">
            <a:avLst/>
          </a:prstGeom>
          <a:solidFill>
            <a:srgbClr val="FFF2E0"/>
          </a:solidFill>
          <a:ln/>
        </p:spPr>
      </p:sp>
      <p:sp>
        <p:nvSpPr>
          <p:cNvPr id="12" name="Shape 5"/>
          <p:cNvSpPr/>
          <p:nvPr/>
        </p:nvSpPr>
        <p:spPr>
          <a:xfrm>
            <a:off x="9715500" y="8572500"/>
            <a:ext cx="38405" cy="571500"/>
          </a:xfrm>
          <a:prstGeom prst="rect">
            <a:avLst/>
          </a:prstGeom>
          <a:solidFill>
            <a:srgbClr val="F2A03D"/>
          </a:solidFill>
          <a:ln w="12700">
            <a:solidFill>
              <a:srgbClr val="F2A03D">
                <a:alpha val="0"/>
              </a:srgbClr>
            </a:solidFill>
            <a:prstDash val="solid"/>
          </a:ln>
        </p:spPr>
      </p:sp>
      <p:sp>
        <p:nvSpPr>
          <p:cNvPr id="13" name="Text 6"/>
          <p:cNvSpPr txBox="1"/>
          <p:nvPr/>
        </p:nvSpPr>
        <p:spPr>
          <a:xfrm>
            <a:off x="761695" y="190195"/>
            <a:ext cx="762061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b="1" spc="225" kern="0" dirty="0">
                <a:solidFill>
                  <a:srgbClr val="4FD1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DESIGN TRADE-OFF</a:t>
            </a:r>
            <a:endParaRPr lang="en-US" sz="825" dirty="0"/>
          </a:p>
        </p:txBody>
      </p:sp>
      <p:sp>
        <p:nvSpPr>
          <p:cNvPr id="14" name="Text 7"/>
          <p:cNvSpPr txBox="1"/>
          <p:nvPr/>
        </p:nvSpPr>
        <p:spPr>
          <a:xfrm>
            <a:off x="761695" y="362102"/>
            <a:ext cx="76206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spc="-37" kern="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Fiber Frame 구조 선택</a:t>
            </a:r>
            <a:endParaRPr lang="en-US" sz="2100" dirty="0"/>
          </a:p>
        </p:txBody>
      </p:sp>
      <p:sp>
        <p:nvSpPr>
          <p:cNvPr id="15" name="Text 8"/>
          <p:cNvSpPr txBox="1"/>
          <p:nvPr/>
        </p:nvSpPr>
        <p:spPr>
          <a:xfrm>
            <a:off x="15430500" y="323698"/>
            <a:ext cx="2095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b="1" spc="300" kern="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XBEAM TECH</a:t>
            </a:r>
            <a:endParaRPr lang="en-US" sz="1050" dirty="0"/>
          </a:p>
        </p:txBody>
      </p:sp>
      <p:sp>
        <p:nvSpPr>
          <p:cNvPr id="16" name="Text 9"/>
          <p:cNvSpPr txBox="1"/>
          <p:nvPr/>
        </p:nvSpPr>
        <p:spPr>
          <a:xfrm>
            <a:off x="761695" y="1238098"/>
            <a:ext cx="13335610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300" b="1" spc="-75" kern="0" dirty="0">
                <a:solidFill>
                  <a:srgbClr val="3E8ED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고정 Frame</a:t>
            </a:r>
            <a:pPr algn="l" indent="0" marL="0">
              <a:buNone/>
            </a:pPr>
            <a:r>
              <a:rPr lang="en-US" sz="3300" b="1" spc="-75" kern="0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vs </a:t>
            </a:r>
            <a:pPr algn="l" indent="0" marL="0">
              <a:buNone/>
            </a:pPr>
            <a:r>
              <a:rPr lang="en-US" sz="3300" b="1" spc="-75" kern="0" dirty="0">
                <a:solidFill>
                  <a:srgbClr val="F2A0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Packet(Hybrid)</a:t>
            </a:r>
            <a:pPr algn="l" indent="0" marL="0">
              <a:buNone/>
            </a:pPr>
            <a:r>
              <a:rPr lang="en-US" sz="3300" b="1" spc="-75" kern="0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방식 비교</a:t>
            </a:r>
            <a:endParaRPr lang="en-US" sz="3300" dirty="0"/>
          </a:p>
        </p:txBody>
      </p:sp>
      <p:sp>
        <p:nvSpPr>
          <p:cNvPr id="17" name="Text 10"/>
          <p:cNvSpPr txBox="1"/>
          <p:nvPr/>
        </p:nvSpPr>
        <p:spPr>
          <a:xfrm>
            <a:off x="761695" y="1815084"/>
            <a:ext cx="133356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B7A8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1Mbps 사양에서는 고정 Frame 방식이 우수 · 8Mbps 확장 시 Hybrid 방식 검토 필요</a:t>
            </a:r>
            <a:endParaRPr lang="en-US" sz="1350" dirty="0"/>
          </a:p>
        </p:txBody>
      </p:sp>
      <p:sp>
        <p:nvSpPr>
          <p:cNvPr id="18" name="Text 11"/>
          <p:cNvSpPr txBox="1"/>
          <p:nvPr/>
        </p:nvSpPr>
        <p:spPr>
          <a:xfrm>
            <a:off x="1143000" y="2762402"/>
            <a:ext cx="1019556" cy="257861"/>
          </a:xfrm>
          <a:prstGeom prst="rect">
            <a:avLst/>
          </a:prstGeom>
          <a:solidFill>
            <a:srgbClr val="3E8EDE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50800" rIns="139700" bIns="50800" rtlCol="0" anchor="ctr"/>
          <a:lstStyle/>
          <a:p>
            <a:pPr algn="l" indent="0" marL="0">
              <a:buNone/>
            </a:pPr>
            <a:r>
              <a:rPr lang="en-US" sz="975" b="1" spc="15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OPTION A</a:t>
            </a:r>
            <a:endParaRPr lang="en-US" sz="975" dirty="0"/>
          </a:p>
        </p:txBody>
      </p:sp>
      <p:sp>
        <p:nvSpPr>
          <p:cNvPr id="19" name="Text 12"/>
          <p:cNvSpPr txBox="1"/>
          <p:nvPr/>
        </p:nvSpPr>
        <p:spPr>
          <a:xfrm>
            <a:off x="2289658" y="2786177"/>
            <a:ext cx="1161288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b="1" spc="113" kern="0" dirty="0">
                <a:solidFill>
                  <a:srgbClr val="3E8ED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FIXED FRAME</a:t>
            </a:r>
            <a:endParaRPr lang="en-US" sz="1125" dirty="0"/>
          </a:p>
        </p:txBody>
      </p:sp>
      <p:sp>
        <p:nvSpPr>
          <p:cNvPr id="20" name="Text 13"/>
          <p:cNvSpPr txBox="1"/>
          <p:nvPr/>
        </p:nvSpPr>
        <p:spPr>
          <a:xfrm>
            <a:off x="1143000" y="3133649"/>
            <a:ext cx="762061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400" b="1" spc="-37" kern="0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채널 위치 기반 고정 프레임</a:t>
            </a:r>
            <a:pPr algn="l" indent="0" marL="0">
              <a:lnSpc>
                <a:spcPct val="125000"/>
              </a:lnSpc>
              <a:buNone/>
            </a:pPr>
            <a:endParaRPr lang="en-US" sz="2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400" b="1" spc="-37" kern="0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+ VALID MAP</a:t>
            </a:r>
            <a:endParaRPr lang="en-US" sz="2400" dirty="0"/>
          </a:p>
        </p:txBody>
      </p:sp>
      <p:sp>
        <p:nvSpPr>
          <p:cNvPr id="21" name="Text 14"/>
          <p:cNvSpPr txBox="1"/>
          <p:nvPr/>
        </p:nvSpPr>
        <p:spPr>
          <a:xfrm>
            <a:off x="1143000" y="5143500"/>
            <a:ext cx="7620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225" kern="0" dirty="0">
                <a:solidFill>
                  <a:srgbClr val="2E7D5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 PROS</a:t>
            </a:r>
            <a:endParaRPr lang="en-US" sz="975" dirty="0"/>
          </a:p>
        </p:txBody>
      </p:sp>
      <p:sp>
        <p:nvSpPr>
          <p:cNvPr id="22" name="Text 15"/>
          <p:cNvSpPr txBox="1"/>
          <p:nvPr/>
        </p:nvSpPr>
        <p:spPr>
          <a:xfrm>
            <a:off x="1143000" y="5438851"/>
            <a:ext cx="76206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Channel ID </a:t>
            </a:r>
            <a:pPr algn="l" indent="0" marL="0">
              <a:buNone/>
            </a:pPr>
            <a:r>
              <a:rPr lang="en-US" sz="1200" b="1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불필요</a:t>
            </a:r>
            <a:pPr algn="l" indent="0" marL="0">
              <a:buNone/>
            </a:pPr>
            <a:r>
              <a:rPr lang="en-US" sz="1200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— 위치가 곧 채널</a:t>
            </a:r>
            <a:endParaRPr lang="en-US" sz="1200" dirty="0"/>
          </a:p>
        </p:txBody>
      </p:sp>
      <p:sp>
        <p:nvSpPr>
          <p:cNvPr id="23" name="Text 16"/>
          <p:cNvSpPr txBox="1"/>
          <p:nvPr/>
        </p:nvSpPr>
        <p:spPr>
          <a:xfrm>
            <a:off x="1143000" y="5728716"/>
            <a:ext cx="76206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FPGA Parsing 로직 </a:t>
            </a:r>
            <a:pPr algn="l" indent="0" marL="0">
              <a:buNone/>
            </a:pPr>
            <a:r>
              <a:rPr lang="en-US" sz="1200" b="1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매우 단순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1143000" y="6017666"/>
            <a:ext cx="76206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모든 채널이 </a:t>
            </a:r>
            <a:pPr algn="l" indent="0" marL="0">
              <a:buNone/>
            </a:pPr>
            <a:r>
              <a:rPr lang="en-US" sz="1200" b="1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동일 Latency</a:t>
            </a:r>
            <a:pPr algn="l" indent="0" marL="0">
              <a:buNone/>
            </a:pPr>
            <a:r>
              <a:rPr lang="en-US" sz="1200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보장 (Deterministic)</a:t>
            </a:r>
            <a:endParaRPr lang="en-US" sz="1200" dirty="0"/>
          </a:p>
        </p:txBody>
      </p:sp>
      <p:sp>
        <p:nvSpPr>
          <p:cNvPr id="25" name="Text 18"/>
          <p:cNvSpPr txBox="1"/>
          <p:nvPr/>
        </p:nvSpPr>
        <p:spPr>
          <a:xfrm>
            <a:off x="1143000" y="6307531"/>
            <a:ext cx="76206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Round Robin Scheduler </a:t>
            </a:r>
            <a:pPr algn="l" indent="0" marL="0">
              <a:buNone/>
            </a:pPr>
            <a:r>
              <a:rPr lang="en-US" sz="1200" b="1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불필요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1143000" y="7144207"/>
            <a:ext cx="7620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225" kern="0" dirty="0">
                <a:solidFill>
                  <a:srgbClr val="E85D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✕ CONS</a:t>
            </a:r>
            <a:endParaRPr lang="en-US" sz="975" dirty="0"/>
          </a:p>
        </p:txBody>
      </p:sp>
      <p:sp>
        <p:nvSpPr>
          <p:cNvPr id="27" name="Text 20"/>
          <p:cNvSpPr txBox="1"/>
          <p:nvPr/>
        </p:nvSpPr>
        <p:spPr>
          <a:xfrm>
            <a:off x="1143000" y="7420356"/>
            <a:ext cx="76206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8Mbps × 64ch 조건에서 </a:t>
            </a:r>
            <a:pPr algn="l" indent="0" marL="0">
              <a:buNone/>
            </a:pPr>
            <a:r>
              <a:rPr lang="en-US" sz="1200" b="1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1B 슬롯 부족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143000" y="7709306"/>
            <a:ext cx="76206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Idle 채널도 슬롯 소비 → 대역폭 낭비 가능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1333195" y="8715146"/>
            <a:ext cx="7239305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E7D5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BEST FOR:</a:t>
            </a:r>
            <a:pPr algn="l" indent="0" marL="0">
              <a:buNone/>
            </a:pPr>
            <a:r>
              <a:rPr lang="en-US" sz="1275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 Mbps/ch · Test 4채널 · 최종 64ch @ 1Mbps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9715500" y="2762402"/>
            <a:ext cx="1019556" cy="257861"/>
          </a:xfrm>
          <a:prstGeom prst="rect">
            <a:avLst/>
          </a:prstGeom>
          <a:solidFill>
            <a:srgbClr val="F2A03D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39700" tIns="50800" rIns="139700" bIns="50800" rtlCol="0" anchor="ctr"/>
          <a:lstStyle/>
          <a:p>
            <a:pPr algn="l" indent="0" marL="0">
              <a:buNone/>
            </a:pPr>
            <a:r>
              <a:rPr lang="en-US" sz="975" b="1" spc="15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OPTION B</a:t>
            </a:r>
            <a:endParaRPr lang="en-US" sz="975" dirty="0"/>
          </a:p>
        </p:txBody>
      </p:sp>
      <p:sp>
        <p:nvSpPr>
          <p:cNvPr id="31" name="Text 24"/>
          <p:cNvSpPr txBox="1"/>
          <p:nvPr/>
        </p:nvSpPr>
        <p:spPr>
          <a:xfrm>
            <a:off x="10862158" y="2786177"/>
            <a:ext cx="1585570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b="1" spc="113" kern="0" dirty="0">
                <a:solidFill>
                  <a:srgbClr val="F2A03D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HYBRID / PACKET</a:t>
            </a:r>
            <a:endParaRPr lang="en-US" sz="1125" dirty="0"/>
          </a:p>
        </p:txBody>
      </p:sp>
      <p:sp>
        <p:nvSpPr>
          <p:cNvPr id="32" name="Text 25"/>
          <p:cNvSpPr txBox="1"/>
          <p:nvPr/>
        </p:nvSpPr>
        <p:spPr>
          <a:xfrm>
            <a:off x="9715500" y="3133649"/>
            <a:ext cx="762061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400" b="1" spc="-37" kern="0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가변 슬롯 or 이벤트 기반</a:t>
            </a:r>
            <a:pPr algn="l" indent="0" marL="0">
              <a:lnSpc>
                <a:spcPct val="125000"/>
              </a:lnSpc>
              <a:buNone/>
            </a:pPr>
            <a:endParaRPr lang="en-US" sz="2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400" b="1" spc="-37" kern="0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Packet 프레임</a:t>
            </a:r>
            <a:endParaRPr lang="en-US" sz="2400" dirty="0"/>
          </a:p>
        </p:txBody>
      </p:sp>
      <p:sp>
        <p:nvSpPr>
          <p:cNvPr id="33" name="Text 26"/>
          <p:cNvSpPr txBox="1"/>
          <p:nvPr/>
        </p:nvSpPr>
        <p:spPr>
          <a:xfrm>
            <a:off x="9715500" y="5143500"/>
            <a:ext cx="7620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225" kern="0" dirty="0">
                <a:solidFill>
                  <a:srgbClr val="2E7D5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 PROS</a:t>
            </a:r>
            <a:endParaRPr lang="en-US" sz="975" dirty="0"/>
          </a:p>
        </p:txBody>
      </p:sp>
      <p:sp>
        <p:nvSpPr>
          <p:cNvPr id="34" name="Text 27"/>
          <p:cNvSpPr txBox="1"/>
          <p:nvPr/>
        </p:nvSpPr>
        <p:spPr>
          <a:xfrm>
            <a:off x="9715500" y="5438851"/>
            <a:ext cx="76206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채널별 Burst 전송에 </a:t>
            </a:r>
            <a:pPr algn="l" indent="0" marL="0">
              <a:buNone/>
            </a:pPr>
            <a:r>
              <a:rPr lang="en-US" sz="1200" b="1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유연</a:t>
            </a:r>
            <a:pPr algn="l" indent="0" marL="0">
              <a:buNone/>
            </a:pPr>
            <a:r>
              <a:rPr lang="en-US" sz="1200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(8Mbps 대응 가능)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9715500" y="5728716"/>
            <a:ext cx="76206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Idle 채널 대역폭 </a:t>
            </a:r>
            <a:pPr algn="l" indent="0" marL="0">
              <a:buNone/>
            </a:pPr>
            <a:r>
              <a:rPr lang="en-US" sz="1200" b="1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낭비 없음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9715500" y="6017666"/>
            <a:ext cx="76206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Frame Rate 낮춰도 </a:t>
            </a:r>
            <a:pPr algn="l" indent="0" marL="0">
              <a:buNone/>
            </a:pPr>
            <a:r>
              <a:rPr lang="en-US" sz="1200" b="1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고속 채널 처리 가능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715500" y="6953098"/>
            <a:ext cx="7620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225" kern="0" dirty="0">
                <a:solidFill>
                  <a:srgbClr val="E85D5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✕ CONS</a:t>
            </a:r>
            <a:endParaRPr lang="en-US" sz="975" dirty="0"/>
          </a:p>
        </p:txBody>
      </p:sp>
      <p:sp>
        <p:nvSpPr>
          <p:cNvPr id="38" name="Text 31"/>
          <p:cNvSpPr txBox="1"/>
          <p:nvPr/>
        </p:nvSpPr>
        <p:spPr>
          <a:xfrm>
            <a:off x="9715500" y="7229246"/>
            <a:ext cx="76206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FPGA </a:t>
            </a:r>
            <a:pPr algn="l" indent="0" marL="0">
              <a:buNone/>
            </a:pPr>
            <a:r>
              <a:rPr lang="en-US" sz="1200" b="1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Parser / Scheduler 복잡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9715500" y="7519111"/>
            <a:ext cx="76206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채널별 </a:t>
            </a:r>
            <a:pPr algn="l" indent="0" marL="0">
              <a:buNone/>
            </a:pPr>
            <a:r>
              <a:rPr lang="en-US" sz="1200" b="1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Latency 편차</a:t>
            </a:r>
            <a:pPr algn="l" indent="0" marL="0">
              <a:buNone/>
            </a:pPr>
            <a:r>
              <a:rPr lang="en-US" sz="1200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발생 가능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9715500" y="7808976"/>
            <a:ext cx="762061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Channel ID 오버헤드 존재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9905695" y="8715146"/>
            <a:ext cx="7239305" cy="2386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B872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BEST FOR:</a:t>
            </a:r>
            <a:pPr algn="l" indent="0" marL="0">
              <a:buNone/>
            </a:pPr>
            <a:r>
              <a:rPr lang="en-US" sz="1275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 Mbps/ch × 64채널 확장 시나리오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761695" y="10001707"/>
            <a:ext cx="7620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6B7A8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© X-BEAM TECH · RS422 Optical Converter Proposal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16954805" y="10001707"/>
            <a:ext cx="762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0B1E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10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bbe9102593f4e087a7f9a8829596dda6.png">    </p:cNvPr>
          <p:cNvPicPr>
            <a:picLocks noChangeAspect="1"/>
          </p:cNvPicPr>
          <p:nvPr/>
        </p:nvPicPr>
        <p:blipFill>
          <a:blip r:embed="rId1"/>
          <a:srcRect l="0" r="0" t="-18" b="-18"/>
          <a:stretch/>
        </p:blipFill>
        <p:spPr>
          <a:xfrm>
            <a:off x="0" y="0"/>
            <a:ext cx="18288000" cy="83850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868205"/>
            <a:ext cx="18288000" cy="428854"/>
          </a:xfrm>
          <a:prstGeom prst="rect">
            <a:avLst/>
          </a:prstGeom>
          <a:solidFill>
            <a:srgbClr val="EBF0F5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9868205"/>
            <a:ext cx="18288000" cy="9144"/>
          </a:xfrm>
          <a:prstGeom prst="rect">
            <a:avLst/>
          </a:prstGeom>
          <a:solidFill>
            <a:srgbClr val="D5DDE7"/>
          </a:solidFill>
          <a:ln w="12700">
            <a:solidFill>
              <a:srgbClr val="D5DDE7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61695" y="2476195"/>
            <a:ext cx="7810805" cy="2572207"/>
          </a:xfrm>
          <a:prstGeom prst="rect">
            <a:avLst/>
          </a:prstGeom>
          <a:solidFill>
            <a:srgbClr val="0B1E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" name="Image 1" descr="gen-dedup-bec8817abff9e872f530dc2abee6b01d.png">    </p:cNvPr>
          <p:cNvPicPr>
            <a:picLocks noChangeAspect="1"/>
          </p:cNvPicPr>
          <p:nvPr/>
        </p:nvPicPr>
        <p:blipFill>
          <a:blip r:embed="rId2"/>
          <a:srcRect l="0" r="0" t="-8" b="-8"/>
          <a:stretch/>
        </p:blipFill>
        <p:spPr>
          <a:xfrm>
            <a:off x="761695" y="5524805"/>
            <a:ext cx="16763695" cy="209580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61695" y="8001000"/>
            <a:ext cx="8153705" cy="1333195"/>
          </a:xfrm>
          <a:prstGeom prst="rect">
            <a:avLst/>
          </a:prstGeom>
          <a:solidFill>
            <a:srgbClr val="EBF6EE"/>
          </a:solidFill>
          <a:ln/>
        </p:spPr>
      </p:sp>
      <p:sp>
        <p:nvSpPr>
          <p:cNvPr id="8" name="Shape 4"/>
          <p:cNvSpPr/>
          <p:nvPr/>
        </p:nvSpPr>
        <p:spPr>
          <a:xfrm>
            <a:off x="761695" y="8001000"/>
            <a:ext cx="57607" cy="1333195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9144000" y="8001000"/>
            <a:ext cx="8438998" cy="1333195"/>
          </a:xfrm>
          <a:prstGeom prst="rect">
            <a:avLst/>
          </a:prstGeom>
          <a:solidFill>
            <a:srgbClr val="FFF2E0"/>
          </a:solidFill>
          <a:ln/>
        </p:spPr>
      </p:sp>
      <p:sp>
        <p:nvSpPr>
          <p:cNvPr id="10" name="Shape 6"/>
          <p:cNvSpPr/>
          <p:nvPr/>
        </p:nvSpPr>
        <p:spPr>
          <a:xfrm>
            <a:off x="9144000" y="8001000"/>
            <a:ext cx="57607" cy="1333195"/>
          </a:xfrm>
          <a:prstGeom prst="rect">
            <a:avLst/>
          </a:prstGeom>
          <a:solidFill>
            <a:srgbClr val="F2A03D"/>
          </a:solidFill>
          <a:ln w="12700">
            <a:solidFill>
              <a:srgbClr val="F2A03D">
                <a:alpha val="0"/>
              </a:srgbClr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762695" y="2476195"/>
          <a:ext cx="8763610" cy="2391156"/>
        </p:xfrm>
        <a:graphic>
          <a:graphicData uri="http://schemas.openxmlformats.org/drawingml/2006/table">
            <a:tbl>
              <a:tblPr/>
              <a:tblGrid>
                <a:gridCol w="1878178"/>
                <a:gridCol w="1009498"/>
                <a:gridCol w="1734617"/>
                <a:gridCol w="2121408"/>
                <a:gridCol w="2018995"/>
              </a:tblGrid>
              <a:tr h="4782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시나리오</a:t>
                      </a:r>
                      <a:endParaRPr lang="en-US" sz="97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71907" marR="171907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CH</a:t>
                      </a:r>
                      <a:endParaRPr lang="en-US" sz="97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71907" marR="171907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Baud/ch</a:t>
                      </a:r>
                      <a:endParaRPr lang="en-US" sz="97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71907" marR="171907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방향별 대역폭</a:t>
                      </a:r>
                      <a:endParaRPr lang="en-US" sz="97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71907" marR="171907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1Gbps 대비</a:t>
                      </a:r>
                      <a:endParaRPr lang="en-US" sz="97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71907" marR="171907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3F"/>
                    </a:solidFill>
                  </a:tcPr>
                </a:tc>
              </a:tr>
              <a:tr h="4782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0B1E3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Test (기본)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71907" marR="171907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dirty="0">
                          <a:solidFill>
                            <a:srgbClr val="0B1E3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4</a:t>
                      </a:r>
                      <a:endParaRPr lang="en-US" sz="1125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71907" marR="171907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dirty="0">
                          <a:solidFill>
                            <a:srgbClr val="0B1E3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 M</a:t>
                      </a:r>
                      <a:endParaRPr lang="en-US" sz="1125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71907" marR="171907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0B1E3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4 Mbps</a:t>
                      </a:r>
                      <a:endParaRPr lang="en-US" sz="1125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71907" marR="171907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E7D5B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0.4%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71907" marR="171907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82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0B1E3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Test (최악)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71907" marR="171907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dirty="0">
                          <a:solidFill>
                            <a:srgbClr val="0B1E3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4</a:t>
                      </a:r>
                      <a:endParaRPr lang="en-US" sz="1125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71907" marR="171907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dirty="0">
                          <a:solidFill>
                            <a:srgbClr val="0B1E3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8 M</a:t>
                      </a:r>
                      <a:endParaRPr lang="en-US" sz="1125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71907" marR="171907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0B1E3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32 Mbps</a:t>
                      </a:r>
                      <a:endParaRPr lang="en-US" sz="1125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71907" marR="171907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E7D5B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3.2%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71907" marR="171907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782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0B1E3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최종 (기본)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71907" marR="171907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dirty="0">
                          <a:solidFill>
                            <a:srgbClr val="0B1E3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64</a:t>
                      </a:r>
                      <a:endParaRPr lang="en-US" sz="1125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71907" marR="171907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dirty="0">
                          <a:solidFill>
                            <a:srgbClr val="0B1E3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1 M</a:t>
                      </a:r>
                      <a:endParaRPr lang="en-US" sz="1125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71907" marR="171907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0B1E3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64 Mbps</a:t>
                      </a:r>
                      <a:endParaRPr lang="en-US" sz="1125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71907" marR="171907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E7D5B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6.4%</a:t>
                      </a:r>
                      <a:endParaRPr lang="en-US" sz="1050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71907" marR="171907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823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b="1" dirty="0">
                          <a:solidFill>
                            <a:srgbClr val="B8722A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최종 (최악)</a:t>
                      </a:r>
                      <a:endParaRPr lang="en-US" sz="1125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171907" marR="171907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0B1E3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64</a:t>
                      </a:r>
                      <a:endParaRPr lang="en-US" sz="1125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71907" marR="171907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0B1E3F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8 M</a:t>
                      </a:r>
                      <a:endParaRPr lang="en-US" sz="1125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71907" marR="171907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75" b="1" dirty="0">
                          <a:solidFill>
                            <a:srgbClr val="B8722A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512 Mbps</a:t>
                      </a:r>
                      <a:endParaRPr lang="en-US" sz="1275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71907" marR="171907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B8722A"/>
                          </a:solidFill>
                          <a:latin typeface="JetBrains Mono" pitchFamily="34" charset="0"/>
                          <a:ea typeface="JetBrains Mono" pitchFamily="34" charset="-122"/>
                          <a:cs typeface="JetBrains Mono" pitchFamily="34" charset="-120"/>
                        </a:rPr>
                        <a:t>51%</a:t>
                      </a:r>
                      <a:endParaRPr lang="en-US" sz="1125" dirty="0">
                        <a:latin typeface="JetBrains Mono" charset="0"/>
                        <a:ea typeface="JetBrains Mono" charset="0"/>
                        <a:cs typeface="JetBrains Mono" charset="0"/>
                      </a:endParaRPr>
                    </a:p>
                  </a:txBody>
                  <a:tcPr marL="171907" marR="171907" marT="133502" marB="133502" anchor="ctr">
                    <a:lnL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D4AF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E0"/>
                    </a:solidFill>
                  </a:tcPr>
                </a:tc>
              </a:tr>
            </a:tbl>
          </a:graphicData>
        </a:graphic>
      </p:graphicFrame>
      <p:pic>
        <p:nvPicPr>
          <p:cNvPr id="12" name="Image 2" descr="gen-dedup-27486455e2931ce3eb93e700f587a0b5.png">    </p:cNvPr>
          <p:cNvPicPr>
            <a:picLocks noChangeAspect="1"/>
          </p:cNvPicPr>
          <p:nvPr/>
        </p:nvPicPr>
        <p:blipFill>
          <a:blip r:embed="rId3"/>
          <a:srcRect l="0" r="0" t="-8" b="-8"/>
          <a:stretch/>
        </p:blipFill>
        <p:spPr>
          <a:xfrm>
            <a:off x="1047902" y="6286500"/>
            <a:ext cx="16192195" cy="1047902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761695" y="190195"/>
            <a:ext cx="85725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b="1" spc="225" kern="0" dirty="0">
                <a:solidFill>
                  <a:srgbClr val="4FD1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BANDWIDTH CALCULATION</a:t>
            </a:r>
            <a:endParaRPr lang="en-US" sz="825" dirty="0"/>
          </a:p>
        </p:txBody>
      </p:sp>
      <p:sp>
        <p:nvSpPr>
          <p:cNvPr id="14" name="Text 8"/>
          <p:cNvSpPr txBox="1"/>
          <p:nvPr/>
        </p:nvSpPr>
        <p:spPr>
          <a:xfrm>
            <a:off x="761695" y="362102"/>
            <a:ext cx="857250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spc="-37" kern="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대역폭 산정 근거</a:t>
            </a:r>
            <a:endParaRPr lang="en-US" sz="2100" dirty="0"/>
          </a:p>
        </p:txBody>
      </p:sp>
      <p:sp>
        <p:nvSpPr>
          <p:cNvPr id="15" name="Text 9"/>
          <p:cNvSpPr txBox="1"/>
          <p:nvPr/>
        </p:nvSpPr>
        <p:spPr>
          <a:xfrm>
            <a:off x="15430500" y="323698"/>
            <a:ext cx="2095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b="1" spc="300" kern="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XBEAM TECH</a:t>
            </a:r>
            <a:endParaRPr lang="en-US" sz="1050" dirty="0"/>
          </a:p>
        </p:txBody>
      </p:sp>
      <p:sp>
        <p:nvSpPr>
          <p:cNvPr id="16" name="Text 10"/>
          <p:cNvSpPr txBox="1"/>
          <p:nvPr/>
        </p:nvSpPr>
        <p:spPr>
          <a:xfrm>
            <a:off x="761695" y="1238098"/>
            <a:ext cx="13335610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300" b="1" spc="-75" kern="0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1Gbps Fiber Link의 </a:t>
            </a:r>
            <a:pPr algn="l" indent="0" marL="0">
              <a:buNone/>
            </a:pPr>
            <a:r>
              <a:rPr lang="en-US" sz="3300" b="1" spc="-75" kern="0" dirty="0">
                <a:solidFill>
                  <a:srgbClr val="3E8ED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여유 검증</a:t>
            </a:r>
            <a:endParaRPr lang="en-US" sz="3300" dirty="0"/>
          </a:p>
        </p:txBody>
      </p:sp>
      <p:sp>
        <p:nvSpPr>
          <p:cNvPr id="17" name="Text 11"/>
          <p:cNvSpPr txBox="1"/>
          <p:nvPr/>
        </p:nvSpPr>
        <p:spPr>
          <a:xfrm>
            <a:off x="761695" y="1815084"/>
            <a:ext cx="133356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B7A8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Test 4채널부터 최종 64채널 × 8Mbps 시나리오까지 · Full Duplex 기준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143000" y="2762402"/>
            <a:ext cx="7239305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225" kern="0" dirty="0">
                <a:solidFill>
                  <a:srgbClr val="4FD1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CORE FORMULA</a:t>
            </a:r>
            <a:endParaRPr lang="en-US" sz="975" dirty="0"/>
          </a:p>
        </p:txBody>
      </p:sp>
      <p:sp>
        <p:nvSpPr>
          <p:cNvPr id="19" name="Text 13"/>
          <p:cNvSpPr txBox="1"/>
          <p:nvPr/>
        </p:nvSpPr>
        <p:spPr>
          <a:xfrm>
            <a:off x="1143000" y="3017520"/>
            <a:ext cx="7239305" cy="8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A8CBF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Peak Bandwidth</a:t>
            </a:r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= </a:t>
            </a:r>
            <a:pPr algn="l" indent="0" marL="0">
              <a:lnSpc>
                <a:spcPts val="3150"/>
              </a:lnSpc>
              <a:buNone/>
            </a:pPr>
            <a:endParaRPr lang="en-US" sz="2100" dirty="0"/>
          </a:p>
          <a:p>
            <a:pPr algn="l" indent="0" marL="0">
              <a:lnSpc>
                <a:spcPts val="3150"/>
              </a:lnSpc>
              <a:buNone/>
            </a:pPr>
            <a:r>
              <a:rPr lang="en-US" sz="2400" b="1" dirty="0">
                <a:solidFill>
                  <a:srgbClr val="4FD1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Channels × Baud/ch × Direction</a:t>
            </a:r>
            <a:endParaRPr lang="en-US" sz="2100" dirty="0"/>
          </a:p>
        </p:txBody>
      </p:sp>
      <p:pic>
        <p:nvPicPr>
          <p:cNvPr id="20" name="Image 3" descr="gen-dedup-3dc36fcd8c2058792f4d205f502a5859.png">    </p:cNvPr>
          <p:cNvPicPr>
            <a:picLocks noChangeAspect="1"/>
          </p:cNvPicPr>
          <p:nvPr/>
        </p:nvPicPr>
        <p:blipFill>
          <a:blip r:embed="rId4"/>
          <a:srcRect l="0" r="0" t="-420" b="-420"/>
          <a:stretch/>
        </p:blipFill>
        <p:spPr>
          <a:xfrm>
            <a:off x="1143000" y="4123944"/>
            <a:ext cx="761695" cy="1920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143000" y="4260190"/>
            <a:ext cx="7239305" cy="522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125" dirty="0">
                <a:solidFill>
                  <a:srgbClr val="A8CBF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Full Duplex는 TX/RX가 물리적으로 독립 → </a:t>
            </a:r>
            <a:pPr algn="l" indent="0" marL="0">
              <a:lnSpc>
                <a:spcPts val="1913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방향별 최대치</a:t>
            </a:r>
            <a:pPr algn="l" indent="0" marL="0">
              <a:lnSpc>
                <a:spcPts val="1913"/>
              </a:lnSpc>
              <a:buNone/>
            </a:pPr>
            <a:r>
              <a:rPr lang="en-US" sz="1125" dirty="0">
                <a:solidFill>
                  <a:srgbClr val="A8CBF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만 확인</a:t>
            </a:r>
            <a:pPr algn="l" indent="0" marL="0">
              <a:lnSpc>
                <a:spcPts val="1913"/>
              </a:lnSpc>
              <a:buNone/>
            </a:pPr>
            <a:endParaRPr lang="en-US" sz="1125" dirty="0"/>
          </a:p>
          <a:p>
            <a:pPr algn="l" indent="0" marL="0">
              <a:lnSpc>
                <a:spcPts val="1913"/>
              </a:lnSpc>
              <a:buNone/>
            </a:pPr>
            <a:r>
              <a:rPr lang="en-US" sz="1125" dirty="0">
                <a:solidFill>
                  <a:srgbClr val="A8CBF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UART Framing 오버헤드(Start/Stop bit) 및 Frame Header는 별도 여유율에 반영</a:t>
            </a:r>
            <a:endParaRPr lang="en-US" sz="1125" dirty="0"/>
          </a:p>
        </p:txBody>
      </p:sp>
      <p:sp>
        <p:nvSpPr>
          <p:cNvPr id="22" name="Text 15"/>
          <p:cNvSpPr txBox="1"/>
          <p:nvPr/>
        </p:nvSpPr>
        <p:spPr>
          <a:xfrm>
            <a:off x="1047902" y="5810098"/>
            <a:ext cx="16193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225" kern="0" dirty="0">
                <a:solidFill>
                  <a:srgbClr val="3E8E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1Gbps FIBER LINK UTILIZATION (per direction)</a:t>
            </a:r>
            <a:endParaRPr lang="en-US" sz="975" dirty="0"/>
          </a:p>
        </p:txBody>
      </p:sp>
      <p:sp>
        <p:nvSpPr>
          <p:cNvPr id="23" name="Text 16"/>
          <p:cNvSpPr txBox="1"/>
          <p:nvPr/>
        </p:nvSpPr>
        <p:spPr>
          <a:xfrm>
            <a:off x="1047902" y="8238744"/>
            <a:ext cx="7620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225" kern="0" dirty="0">
                <a:solidFill>
                  <a:srgbClr val="2E7D5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CONCLUSION · 1Mbps 기준</a:t>
            </a:r>
            <a:endParaRPr lang="en-US" sz="975" dirty="0"/>
          </a:p>
        </p:txBody>
      </p:sp>
      <p:sp>
        <p:nvSpPr>
          <p:cNvPr id="24" name="Text 17"/>
          <p:cNvSpPr txBox="1"/>
          <p:nvPr/>
        </p:nvSpPr>
        <p:spPr>
          <a:xfrm>
            <a:off x="1047902" y="8475574"/>
            <a:ext cx="7620610" cy="611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64채널 × 1Mbps → </a:t>
            </a:r>
            <a:pPr algn="l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2E7D5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6.4% 사용 · 15배 여유</a:t>
            </a:r>
            <a:pPr algn="l" indent="0" marL="0">
              <a:lnSpc>
                <a:spcPts val="2310"/>
              </a:lnSpc>
              <a:buNone/>
            </a:pPr>
            <a:endParaRPr lang="en-US" sz="1650" dirty="0"/>
          </a:p>
          <a:p>
            <a:pPr algn="l" indent="0" marL="0">
              <a:lnSpc>
                <a:spcPts val="2310"/>
              </a:lnSpc>
              <a:buNone/>
            </a:pPr>
            <a:r>
              <a:rPr lang="en-US" sz="1200" b="1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고정 Frame 방식으로 충분히 처리 가능</a:t>
            </a:r>
            <a:endParaRPr lang="en-US" sz="1650" dirty="0"/>
          </a:p>
        </p:txBody>
      </p:sp>
      <p:sp>
        <p:nvSpPr>
          <p:cNvPr id="25" name="Text 18"/>
          <p:cNvSpPr txBox="1"/>
          <p:nvPr/>
        </p:nvSpPr>
        <p:spPr>
          <a:xfrm>
            <a:off x="9430207" y="8238744"/>
            <a:ext cx="7810805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225" kern="0" dirty="0">
                <a:solidFill>
                  <a:srgbClr val="B872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NOTE · 8Mbps 요구 시</a:t>
            </a:r>
            <a:endParaRPr lang="en-US" sz="975" dirty="0"/>
          </a:p>
        </p:txBody>
      </p:sp>
      <p:sp>
        <p:nvSpPr>
          <p:cNvPr id="26" name="Text 19"/>
          <p:cNvSpPr txBox="1"/>
          <p:nvPr/>
        </p:nvSpPr>
        <p:spPr>
          <a:xfrm>
            <a:off x="9430207" y="8475574"/>
            <a:ext cx="7810805" cy="611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64ch × 8Mbps → </a:t>
            </a:r>
            <a:pPr algn="l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B8722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51% 사용 · 여전히 여유 있음</a:t>
            </a:r>
            <a:pPr algn="l" indent="0" marL="0">
              <a:lnSpc>
                <a:spcPts val="2310"/>
              </a:lnSpc>
              <a:buNone/>
            </a:pPr>
            <a:endParaRPr lang="en-US" sz="1650" dirty="0"/>
          </a:p>
          <a:p>
            <a:pPr algn="l" indent="0" marL="0">
              <a:lnSpc>
                <a:spcPts val="2310"/>
              </a:lnSpc>
              <a:buNone/>
            </a:pPr>
            <a:r>
              <a:rPr lang="en-US" sz="1200" b="1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단, 프레임은 Hybrid/Packet 방식 재설계 필요</a:t>
            </a:r>
            <a:endParaRPr lang="en-US" sz="1650" dirty="0"/>
          </a:p>
        </p:txBody>
      </p:sp>
      <p:sp>
        <p:nvSpPr>
          <p:cNvPr id="27" name="Text 20"/>
          <p:cNvSpPr txBox="1"/>
          <p:nvPr/>
        </p:nvSpPr>
        <p:spPr>
          <a:xfrm>
            <a:off x="761695" y="10001707"/>
            <a:ext cx="7620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6B7A8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© X-BEAM TECH · RS422 Optical Converter Proposal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16954805" y="10001707"/>
            <a:ext cx="762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0B1E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10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bbe9102593f4e087a7f9a8829596dda6.png">    </p:cNvPr>
          <p:cNvPicPr>
            <a:picLocks noChangeAspect="1"/>
          </p:cNvPicPr>
          <p:nvPr/>
        </p:nvPicPr>
        <p:blipFill>
          <a:blip r:embed="rId1"/>
          <a:srcRect l="0" r="0" t="-18" b="-18"/>
          <a:stretch/>
        </p:blipFill>
        <p:spPr>
          <a:xfrm>
            <a:off x="0" y="0"/>
            <a:ext cx="18288000" cy="83850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868205"/>
            <a:ext cx="18288000" cy="428854"/>
          </a:xfrm>
          <a:prstGeom prst="rect">
            <a:avLst/>
          </a:prstGeom>
          <a:solidFill>
            <a:srgbClr val="EBF0F5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9868205"/>
            <a:ext cx="18288000" cy="9144"/>
          </a:xfrm>
          <a:prstGeom prst="rect">
            <a:avLst/>
          </a:prstGeom>
          <a:solidFill>
            <a:srgbClr val="D5DDE7"/>
          </a:solidFill>
          <a:ln w="12700">
            <a:solidFill>
              <a:srgbClr val="D5DDE7">
                <a:alpha val="0"/>
              </a:srgbClr>
            </a:solidFill>
            <a:prstDash val="solid"/>
          </a:ln>
        </p:spPr>
      </p:sp>
      <p:pic>
        <p:nvPicPr>
          <p:cNvPr id="5" name="Image 1" descr="gen-dedup-c4439163a1c60aab0ffeec3ba1e123ed.png">    </p:cNvPr>
          <p:cNvPicPr>
            <a:picLocks noChangeAspect="1"/>
          </p:cNvPicPr>
          <p:nvPr/>
        </p:nvPicPr>
        <p:blipFill>
          <a:blip r:embed="rId2"/>
          <a:srcRect l="0" r="0" t="-6" b="-6"/>
          <a:stretch/>
        </p:blipFill>
        <p:spPr>
          <a:xfrm>
            <a:off x="761695" y="2572207"/>
            <a:ext cx="11048695" cy="323880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2096598" y="2572207"/>
            <a:ext cx="5429707" cy="3238805"/>
          </a:xfrm>
          <a:prstGeom prst="rect">
            <a:avLst/>
          </a:prstGeom>
          <a:solidFill>
            <a:srgbClr val="0B1E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2" descr="gen-dedup-78f5d69254904e90ea2bb115a4f6f495.png">    </p:cNvPr>
          <p:cNvPicPr>
            <a:picLocks noChangeAspect="1"/>
          </p:cNvPicPr>
          <p:nvPr/>
        </p:nvPicPr>
        <p:blipFill>
          <a:blip r:embed="rId3"/>
          <a:srcRect l="0" r="0" t="-6" b="-6"/>
          <a:stretch/>
        </p:blipFill>
        <p:spPr>
          <a:xfrm>
            <a:off x="761695" y="6096305"/>
            <a:ext cx="16763695" cy="3238805"/>
          </a:xfrm>
          <a:prstGeom prst="rect">
            <a:avLst/>
          </a:prstGeom>
        </p:spPr>
      </p:pic>
      <p:pic>
        <p:nvPicPr>
          <p:cNvPr id="8" name="Image 3" descr="gen-dedup-f56259395e205ed8da581fd0a15a0d84.png">    </p:cNvPr>
          <p:cNvPicPr>
            <a:picLocks noChangeAspect="1"/>
          </p:cNvPicPr>
          <p:nvPr/>
        </p:nvPicPr>
        <p:blipFill>
          <a:blip r:embed="rId4"/>
          <a:srcRect l="0" r="0" t="-13" b="-13"/>
          <a:stretch/>
        </p:blipFill>
        <p:spPr>
          <a:xfrm>
            <a:off x="1047902" y="3619195"/>
            <a:ext cx="10477195" cy="2000707"/>
          </a:xfrm>
          <a:prstGeom prst="rect">
            <a:avLst/>
          </a:prstGeom>
        </p:spPr>
      </p:pic>
      <p:pic>
        <p:nvPicPr>
          <p:cNvPr id="9" name="Image 4" descr="gen-dedup-195948eda83b8b88d0d28a81d9b28438.png">    </p:cNvPr>
          <p:cNvPicPr>
            <a:picLocks noChangeAspect="1"/>
          </p:cNvPicPr>
          <p:nvPr/>
        </p:nvPicPr>
        <p:blipFill>
          <a:blip r:embed="rId5"/>
          <a:srcRect l="-7" r="-7" t="0" b="0"/>
          <a:stretch/>
        </p:blipFill>
        <p:spPr>
          <a:xfrm>
            <a:off x="1047902" y="7239305"/>
            <a:ext cx="16192195" cy="1904695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761695" y="190195"/>
            <a:ext cx="85725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b="1" spc="225" kern="0" dirty="0">
                <a:solidFill>
                  <a:srgbClr val="4FD1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FIFO &amp; LATENCY</a:t>
            </a:r>
            <a:endParaRPr lang="en-US" sz="825" dirty="0"/>
          </a:p>
        </p:txBody>
      </p:sp>
      <p:sp>
        <p:nvSpPr>
          <p:cNvPr id="11" name="Text 4"/>
          <p:cNvSpPr txBox="1"/>
          <p:nvPr/>
        </p:nvSpPr>
        <p:spPr>
          <a:xfrm>
            <a:off x="761695" y="362102"/>
            <a:ext cx="857250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spc="-37" kern="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채널 버퍼 및 지연 시간 산정</a:t>
            </a:r>
            <a:endParaRPr lang="en-US" sz="2100" dirty="0"/>
          </a:p>
        </p:txBody>
      </p:sp>
      <p:sp>
        <p:nvSpPr>
          <p:cNvPr id="12" name="Text 5"/>
          <p:cNvSpPr txBox="1"/>
          <p:nvPr/>
        </p:nvSpPr>
        <p:spPr>
          <a:xfrm>
            <a:off x="15430500" y="323698"/>
            <a:ext cx="2095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b="1" spc="300" kern="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XBEAM TECH</a:t>
            </a:r>
            <a:endParaRPr lang="en-US" sz="1050" dirty="0"/>
          </a:p>
        </p:txBody>
      </p:sp>
      <p:sp>
        <p:nvSpPr>
          <p:cNvPr id="13" name="Text 6"/>
          <p:cNvSpPr txBox="1"/>
          <p:nvPr/>
        </p:nvSpPr>
        <p:spPr>
          <a:xfrm>
            <a:off x="761695" y="1238098"/>
            <a:ext cx="13335610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300" b="1" spc="-75" kern="0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Baud rate에 따라 </a:t>
            </a:r>
            <a:pPr algn="l" indent="0" marL="0">
              <a:buNone/>
            </a:pPr>
            <a:r>
              <a:rPr lang="en-US" sz="3300" b="1" spc="-75" kern="0" dirty="0">
                <a:solidFill>
                  <a:srgbClr val="3E8ED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FIFO 깊이</a:t>
            </a:r>
            <a:pPr algn="l" indent="0" marL="0">
              <a:buNone/>
            </a:pPr>
            <a:r>
              <a:rPr lang="en-US" sz="3300" b="1" spc="-75" kern="0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가 달라져야 합니다</a:t>
            </a:r>
            <a:endParaRPr lang="en-US" sz="3300" dirty="0"/>
          </a:p>
        </p:txBody>
      </p:sp>
      <p:sp>
        <p:nvSpPr>
          <p:cNvPr id="14" name="Text 7"/>
          <p:cNvSpPr txBox="1"/>
          <p:nvPr/>
        </p:nvSpPr>
        <p:spPr>
          <a:xfrm>
            <a:off x="761695" y="1815084"/>
            <a:ext cx="133356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B7A8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 Byte 전송 시간 기준으로 채널 버퍼 최소 크기 산정</a:t>
            </a:r>
            <a:endParaRPr lang="en-US" sz="1350" dirty="0"/>
          </a:p>
        </p:txBody>
      </p:sp>
      <p:sp>
        <p:nvSpPr>
          <p:cNvPr id="15" name="Text 8"/>
          <p:cNvSpPr txBox="1"/>
          <p:nvPr/>
        </p:nvSpPr>
        <p:spPr>
          <a:xfrm>
            <a:off x="1047902" y="2857500"/>
            <a:ext cx="10478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225" kern="0" dirty="0">
                <a:solidFill>
                  <a:srgbClr val="3E8E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BYTE TIME ANALYSIS</a:t>
            </a:r>
            <a:endParaRPr lang="en-US" sz="975" dirty="0"/>
          </a:p>
        </p:txBody>
      </p:sp>
      <p:sp>
        <p:nvSpPr>
          <p:cNvPr id="16" name="Text 9"/>
          <p:cNvSpPr txBox="1"/>
          <p:nvPr/>
        </p:nvSpPr>
        <p:spPr>
          <a:xfrm>
            <a:off x="1047902" y="3095244"/>
            <a:ext cx="10478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채널당 1 Byte 전송 시간</a:t>
            </a:r>
            <a:endParaRPr lang="en-US" sz="1800" dirty="0"/>
          </a:p>
        </p:txBody>
      </p:sp>
      <p:sp>
        <p:nvSpPr>
          <p:cNvPr id="17" name="Text 10"/>
          <p:cNvSpPr txBox="1"/>
          <p:nvPr/>
        </p:nvSpPr>
        <p:spPr>
          <a:xfrm>
            <a:off x="12382805" y="2857500"/>
            <a:ext cx="4858207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225" kern="0" dirty="0">
                <a:solidFill>
                  <a:srgbClr val="4FD1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RECOMMENDATION</a:t>
            </a:r>
            <a:endParaRPr lang="en-US" sz="975" dirty="0"/>
          </a:p>
        </p:txBody>
      </p:sp>
      <p:sp>
        <p:nvSpPr>
          <p:cNvPr id="18" name="Text 11"/>
          <p:cNvSpPr txBox="1"/>
          <p:nvPr/>
        </p:nvSpPr>
        <p:spPr>
          <a:xfrm>
            <a:off x="12382805" y="3114446"/>
            <a:ext cx="4858207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Baud rate 별 </a:t>
            </a:r>
            <a:pPr algn="l" indent="0" marL="0">
              <a:lnSpc>
                <a:spcPct val="130000"/>
              </a:lnSpc>
              <a:buNone/>
            </a:pPr>
            <a:endParaRPr lang="en-US" sz="1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채널당 FIFO 크기</a:t>
            </a:r>
            <a:endParaRPr lang="en-US" sz="1950" dirty="0"/>
          </a:p>
        </p:txBody>
      </p:sp>
      <p:sp>
        <p:nvSpPr>
          <p:cNvPr id="19" name="Shape 12"/>
          <p:cNvSpPr/>
          <p:nvPr/>
        </p:nvSpPr>
        <p:spPr>
          <a:xfrm>
            <a:off x="12382805" y="4425696"/>
            <a:ext cx="4858207" cy="9144"/>
          </a:xfrm>
          <a:prstGeom prst="rect">
            <a:avLst/>
          </a:prstGeom>
          <a:solidFill>
            <a:srgbClr val="34456A"/>
          </a:solidFill>
          <a:ln w="12700">
            <a:solidFill>
              <a:srgbClr val="34456A">
                <a:alpha val="0"/>
              </a:srgbClr>
            </a:solidFill>
            <a:prstDash val="solid"/>
          </a:ln>
        </p:spPr>
      </p:sp>
      <p:sp>
        <p:nvSpPr>
          <p:cNvPr id="20" name="Text 13"/>
          <p:cNvSpPr txBox="1"/>
          <p:nvPr/>
        </p:nvSpPr>
        <p:spPr>
          <a:xfrm>
            <a:off x="12382805" y="4101084"/>
            <a:ext cx="703174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A8CBF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≤ 1 Mbps</a:t>
            </a:r>
            <a:endParaRPr lang="en-US" sz="1125" dirty="0"/>
          </a:p>
        </p:txBody>
      </p:sp>
      <p:sp>
        <p:nvSpPr>
          <p:cNvPr id="21" name="Text 14"/>
          <p:cNvSpPr txBox="1"/>
          <p:nvPr/>
        </p:nvSpPr>
        <p:spPr>
          <a:xfrm>
            <a:off x="16269005" y="4101084"/>
            <a:ext cx="972007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 ~ 4 Byte</a:t>
            </a:r>
            <a:endParaRPr lang="en-US" sz="1275" dirty="0"/>
          </a:p>
        </p:txBody>
      </p:sp>
      <p:sp>
        <p:nvSpPr>
          <p:cNvPr id="22" name="Shape 15"/>
          <p:cNvSpPr/>
          <p:nvPr/>
        </p:nvSpPr>
        <p:spPr>
          <a:xfrm>
            <a:off x="12382805" y="4873752"/>
            <a:ext cx="4858207" cy="9144"/>
          </a:xfrm>
          <a:prstGeom prst="rect">
            <a:avLst/>
          </a:prstGeom>
          <a:solidFill>
            <a:srgbClr val="34456A"/>
          </a:solidFill>
          <a:ln w="12700">
            <a:solidFill>
              <a:srgbClr val="34456A">
                <a:alpha val="0"/>
              </a:srgbClr>
            </a:solidFill>
            <a:prstDash val="solid"/>
          </a:ln>
        </p:spPr>
      </p:sp>
      <p:sp>
        <p:nvSpPr>
          <p:cNvPr id="23" name="Text 16"/>
          <p:cNvSpPr txBox="1"/>
          <p:nvPr/>
        </p:nvSpPr>
        <p:spPr>
          <a:xfrm>
            <a:off x="12382805" y="4549140"/>
            <a:ext cx="703174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dirty="0">
                <a:solidFill>
                  <a:srgbClr val="A8CBF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~ 4 Mbps</a:t>
            </a:r>
            <a:endParaRPr lang="en-US" sz="1125" dirty="0"/>
          </a:p>
        </p:txBody>
      </p:sp>
      <p:sp>
        <p:nvSpPr>
          <p:cNvPr id="24" name="Text 17"/>
          <p:cNvSpPr txBox="1"/>
          <p:nvPr/>
        </p:nvSpPr>
        <p:spPr>
          <a:xfrm>
            <a:off x="16171164" y="4549140"/>
            <a:ext cx="1077163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 ~ 16 Byte</a:t>
            </a:r>
            <a:endParaRPr lang="en-US" sz="1275" dirty="0"/>
          </a:p>
        </p:txBody>
      </p:sp>
      <p:sp>
        <p:nvSpPr>
          <p:cNvPr id="25" name="Text 18"/>
          <p:cNvSpPr txBox="1"/>
          <p:nvPr/>
        </p:nvSpPr>
        <p:spPr>
          <a:xfrm>
            <a:off x="12382805" y="4997196"/>
            <a:ext cx="1032358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4FD1C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 Mbps (권장)</a:t>
            </a:r>
            <a:endParaRPr lang="en-US" sz="1125" dirty="0"/>
          </a:p>
        </p:txBody>
      </p:sp>
      <p:sp>
        <p:nvSpPr>
          <p:cNvPr id="26" name="Text 19"/>
          <p:cNvSpPr txBox="1"/>
          <p:nvPr/>
        </p:nvSpPr>
        <p:spPr>
          <a:xfrm>
            <a:off x="16074238" y="4997196"/>
            <a:ext cx="1172261" cy="2103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4FD1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 ~ 32 Byte</a:t>
            </a:r>
            <a:endParaRPr lang="en-US" sz="1275" dirty="0"/>
          </a:p>
        </p:txBody>
      </p:sp>
      <p:sp>
        <p:nvSpPr>
          <p:cNvPr id="27" name="Shape 20"/>
          <p:cNvSpPr/>
          <p:nvPr/>
        </p:nvSpPr>
        <p:spPr>
          <a:xfrm>
            <a:off x="12382805" y="5472684"/>
            <a:ext cx="4858207" cy="9144"/>
          </a:xfrm>
          <a:prstGeom prst="rect">
            <a:avLst/>
          </a:prstGeom>
          <a:solidFill>
            <a:srgbClr val="34456A"/>
          </a:solidFill>
          <a:ln w="12700">
            <a:solidFill>
              <a:srgbClr val="34456A">
                <a:alpha val="0"/>
              </a:srgbClr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12382805" y="5571439"/>
            <a:ext cx="4858207" cy="42519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14300" tIns="0" rIns="114300" bIns="11430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A8CBF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64ch × 32B × 2방향 = </a:t>
            </a:r>
            <a:pPr algn="l" indent="0" marL="0">
              <a:lnSpc>
                <a:spcPts val="156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4 KB</a:t>
            </a:r>
            <a:pPr algn="l" indent="0" marL="0">
              <a:lnSpc>
                <a:spcPts val="1560"/>
              </a:lnSpc>
              <a:buNone/>
            </a:pPr>
            <a:endParaRPr lang="en-US" sz="975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A8CBF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최신 FPGA 내부 BRAM 기준 매우 작은 양</a:t>
            </a:r>
            <a:endParaRPr lang="en-US" sz="975" dirty="0"/>
          </a:p>
        </p:txBody>
      </p:sp>
      <p:sp>
        <p:nvSpPr>
          <p:cNvPr id="29" name="Text 22"/>
          <p:cNvSpPr txBox="1"/>
          <p:nvPr/>
        </p:nvSpPr>
        <p:spPr>
          <a:xfrm>
            <a:off x="1047902" y="6381598"/>
            <a:ext cx="16193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225" kern="0" dirty="0">
                <a:solidFill>
                  <a:srgbClr val="3E8E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END-TO-END LATENCY PATH</a:t>
            </a:r>
            <a:endParaRPr lang="en-US" sz="975" dirty="0"/>
          </a:p>
        </p:txBody>
      </p:sp>
      <p:sp>
        <p:nvSpPr>
          <p:cNvPr id="30" name="Text 23"/>
          <p:cNvSpPr txBox="1"/>
          <p:nvPr/>
        </p:nvSpPr>
        <p:spPr>
          <a:xfrm>
            <a:off x="1047902" y="6620256"/>
            <a:ext cx="16193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Deterministic Frame 방식 · 채널별 균등 Latency</a:t>
            </a:r>
            <a:endParaRPr lang="en-US" sz="1800" dirty="0"/>
          </a:p>
        </p:txBody>
      </p:sp>
      <p:sp>
        <p:nvSpPr>
          <p:cNvPr id="31" name="Text 24"/>
          <p:cNvSpPr txBox="1"/>
          <p:nvPr/>
        </p:nvSpPr>
        <p:spPr>
          <a:xfrm>
            <a:off x="761695" y="10001707"/>
            <a:ext cx="7620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6B7A8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© X-BEAM TECH · RS422 Optical Converter Proposal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6954805" y="10001707"/>
            <a:ext cx="762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0B1E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10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bbe9102593f4e087a7f9a8829596dda6.png">    </p:cNvPr>
          <p:cNvPicPr>
            <a:picLocks noChangeAspect="1"/>
          </p:cNvPicPr>
          <p:nvPr/>
        </p:nvPicPr>
        <p:blipFill>
          <a:blip r:embed="rId1"/>
          <a:srcRect l="0" r="0" t="-18" b="-18"/>
          <a:stretch/>
        </p:blipFill>
        <p:spPr>
          <a:xfrm>
            <a:off x="0" y="0"/>
            <a:ext cx="18288000" cy="83850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868205"/>
            <a:ext cx="18288000" cy="428854"/>
          </a:xfrm>
          <a:prstGeom prst="rect">
            <a:avLst/>
          </a:prstGeom>
          <a:solidFill>
            <a:srgbClr val="EBF0F5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9868205"/>
            <a:ext cx="18288000" cy="9144"/>
          </a:xfrm>
          <a:prstGeom prst="rect">
            <a:avLst/>
          </a:prstGeom>
          <a:solidFill>
            <a:srgbClr val="D5DDE7"/>
          </a:solidFill>
          <a:ln w="12700">
            <a:solidFill>
              <a:srgbClr val="D5DDE7">
                <a:alpha val="0"/>
              </a:srgbClr>
            </a:solidFill>
            <a:prstDash val="solid"/>
          </a:ln>
        </p:spPr>
      </p:sp>
      <p:pic>
        <p:nvPicPr>
          <p:cNvPr id="5" name="Image 1" descr="gen-dedup-94929e07ee14f0910378b941a1aad13b.png">    </p:cNvPr>
          <p:cNvPicPr>
            <a:picLocks noChangeAspect="1"/>
          </p:cNvPicPr>
          <p:nvPr/>
        </p:nvPicPr>
        <p:blipFill>
          <a:blip r:embed="rId2"/>
          <a:srcRect l="0" r="0" t="-1" b="-1"/>
          <a:stretch/>
        </p:blipFill>
        <p:spPr>
          <a:xfrm>
            <a:off x="761695" y="2476195"/>
            <a:ext cx="11048695" cy="6858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2096598" y="2476195"/>
            <a:ext cx="5429707" cy="3238805"/>
          </a:xfrm>
          <a:prstGeom prst="rect">
            <a:avLst/>
          </a:prstGeom>
          <a:solidFill>
            <a:srgbClr val="0B1E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2096598" y="6001207"/>
            <a:ext cx="5486400" cy="16194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4"/>
          <p:cNvSpPr/>
          <p:nvPr/>
        </p:nvSpPr>
        <p:spPr>
          <a:xfrm>
            <a:off x="12096598" y="6001207"/>
            <a:ext cx="57607" cy="1619402"/>
          </a:xfrm>
          <a:prstGeom prst="rect">
            <a:avLst/>
          </a:prstGeom>
          <a:solidFill>
            <a:srgbClr val="F2A03D"/>
          </a:solidFill>
          <a:ln w="12700">
            <a:solidFill>
              <a:srgbClr val="F2A03D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2096598" y="7905902"/>
            <a:ext cx="5486400" cy="1429207"/>
          </a:xfrm>
          <a:prstGeom prst="rect">
            <a:avLst/>
          </a:prstGeom>
          <a:solidFill>
            <a:srgbClr val="EBF6EE"/>
          </a:solidFill>
          <a:ln/>
        </p:spPr>
      </p:sp>
      <p:sp>
        <p:nvSpPr>
          <p:cNvPr id="10" name="Shape 6"/>
          <p:cNvSpPr/>
          <p:nvPr/>
        </p:nvSpPr>
        <p:spPr>
          <a:xfrm>
            <a:off x="12096598" y="7905902"/>
            <a:ext cx="57607" cy="1429207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>
                <a:alpha val="0"/>
              </a:srgbClr>
            </a:solidFill>
            <a:prstDash val="solid"/>
          </a:ln>
        </p:spPr>
      </p:sp>
      <p:pic>
        <p:nvPicPr>
          <p:cNvPr id="11" name="Image 2" descr="gen-dedup-185f1aae561e071778de6f71cb48b226.png">    </p:cNvPr>
          <p:cNvPicPr>
            <a:picLocks noChangeAspect="1"/>
          </p:cNvPicPr>
          <p:nvPr/>
        </p:nvPicPr>
        <p:blipFill>
          <a:blip r:embed="rId3"/>
          <a:srcRect l="0" r="0" t="-3" b="-3"/>
          <a:stretch/>
        </p:blipFill>
        <p:spPr>
          <a:xfrm>
            <a:off x="1047902" y="3524098"/>
            <a:ext cx="10477195" cy="561990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61695" y="190195"/>
            <a:ext cx="85725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b="1" spc="225" kern="0" dirty="0">
                <a:solidFill>
                  <a:srgbClr val="4FD1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FPGA INTERNAL</a:t>
            </a:r>
            <a:endParaRPr lang="en-US" sz="825" dirty="0"/>
          </a:p>
        </p:txBody>
      </p:sp>
      <p:sp>
        <p:nvSpPr>
          <p:cNvPr id="13" name="Text 8"/>
          <p:cNvSpPr txBox="1"/>
          <p:nvPr/>
        </p:nvSpPr>
        <p:spPr>
          <a:xfrm>
            <a:off x="761695" y="362102"/>
            <a:ext cx="857250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spc="-37" kern="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FPGA 내부 구조 및 UART 구현</a:t>
            </a:r>
            <a:endParaRPr lang="en-US" sz="2100" dirty="0"/>
          </a:p>
        </p:txBody>
      </p:sp>
      <p:sp>
        <p:nvSpPr>
          <p:cNvPr id="14" name="Text 9"/>
          <p:cNvSpPr txBox="1"/>
          <p:nvPr/>
        </p:nvSpPr>
        <p:spPr>
          <a:xfrm>
            <a:off x="15430500" y="323698"/>
            <a:ext cx="2095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b="1" spc="300" kern="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XBEAM TECH</a:t>
            </a:r>
            <a:endParaRPr lang="en-US" sz="1050" dirty="0"/>
          </a:p>
        </p:txBody>
      </p:sp>
      <p:sp>
        <p:nvSpPr>
          <p:cNvPr id="15" name="Text 10"/>
          <p:cNvSpPr txBox="1"/>
          <p:nvPr/>
        </p:nvSpPr>
        <p:spPr>
          <a:xfrm>
            <a:off x="761695" y="1238098"/>
            <a:ext cx="13335610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300" b="1" spc="-75" kern="0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TX / RX Path 대칭 구조 + 채널별 </a:t>
            </a:r>
            <a:pPr algn="l" indent="0" marL="0">
              <a:buNone/>
            </a:pPr>
            <a:r>
              <a:rPr lang="en-US" sz="3300" b="1" spc="-75" kern="0" dirty="0">
                <a:solidFill>
                  <a:srgbClr val="3E8ED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UART Engine</a:t>
            </a:r>
            <a:endParaRPr lang="en-US" sz="3300" dirty="0"/>
          </a:p>
        </p:txBody>
      </p:sp>
      <p:sp>
        <p:nvSpPr>
          <p:cNvPr id="16" name="Text 11"/>
          <p:cNvSpPr txBox="1"/>
          <p:nvPr/>
        </p:nvSpPr>
        <p:spPr>
          <a:xfrm>
            <a:off x="761695" y="1815084"/>
            <a:ext cx="133356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B7A8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UART IP는 자체 구현 · Baud Tick + Shift Register + FSM · 채널당 자원 소모 매우 작음</a:t>
            </a:r>
            <a:endParaRPr lang="en-US" sz="1350" dirty="0"/>
          </a:p>
        </p:txBody>
      </p:sp>
      <p:sp>
        <p:nvSpPr>
          <p:cNvPr id="17" name="Text 12"/>
          <p:cNvSpPr txBox="1"/>
          <p:nvPr/>
        </p:nvSpPr>
        <p:spPr>
          <a:xfrm>
            <a:off x="1047902" y="2762402"/>
            <a:ext cx="104781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225" kern="0" dirty="0">
                <a:solidFill>
                  <a:srgbClr val="3E8E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TX / RX PATH</a:t>
            </a:r>
            <a:endParaRPr lang="en-US" sz="975" dirty="0"/>
          </a:p>
        </p:txBody>
      </p:sp>
      <p:sp>
        <p:nvSpPr>
          <p:cNvPr id="18" name="Text 13"/>
          <p:cNvSpPr txBox="1"/>
          <p:nvPr/>
        </p:nvSpPr>
        <p:spPr>
          <a:xfrm>
            <a:off x="1047902" y="3000146"/>
            <a:ext cx="10478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Fiber Serializer / Deserializer 데이터 경로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12382805" y="2762402"/>
            <a:ext cx="4858207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225" kern="0" dirty="0">
                <a:solidFill>
                  <a:srgbClr val="4FD1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UART ENGINE</a:t>
            </a:r>
            <a:endParaRPr lang="en-US" sz="975" dirty="0"/>
          </a:p>
        </p:txBody>
      </p:sp>
      <p:sp>
        <p:nvSpPr>
          <p:cNvPr id="20" name="Text 15"/>
          <p:cNvSpPr txBox="1"/>
          <p:nvPr/>
        </p:nvSpPr>
        <p:spPr>
          <a:xfrm>
            <a:off x="12382805" y="3019349"/>
            <a:ext cx="4858207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FPGA UART는 </a:t>
            </a:r>
            <a:pPr algn="l" indent="0" marL="0">
              <a:lnSpc>
                <a:spcPct val="130000"/>
              </a:lnSpc>
              <a:buNone/>
            </a:pPr>
            <a:endParaRPr lang="en-US" sz="19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자체 구현 (Custom HDL)</a:t>
            </a:r>
            <a:endParaRPr lang="en-US" sz="1950" dirty="0"/>
          </a:p>
        </p:txBody>
      </p:sp>
      <p:pic>
        <p:nvPicPr>
          <p:cNvPr id="21" name="Image 3" descr="gen-dedup-63b3dc88ec866c9c9549c88f458b1094.png">    </p:cNvPr>
          <p:cNvPicPr>
            <a:picLocks noChangeAspect="1"/>
          </p:cNvPicPr>
          <p:nvPr/>
        </p:nvPicPr>
        <p:blipFill>
          <a:blip r:embed="rId4"/>
          <a:srcRect l="-404" r="-404" t="0" b="0"/>
          <a:stretch/>
        </p:blipFill>
        <p:spPr>
          <a:xfrm>
            <a:off x="12382805" y="3815791"/>
            <a:ext cx="571500" cy="2834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2382805" y="3957523"/>
            <a:ext cx="4858207" cy="544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9"/>
              </a:lnSpc>
              <a:buNone/>
            </a:pPr>
            <a:r>
              <a:rPr lang="en-US" sz="1125" dirty="0">
                <a:solidFill>
                  <a:srgbClr val="A8CBF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Vendor IP (AXI UART 등)는 CPU 연결용이라</a:t>
            </a:r>
            <a:pPr algn="l" indent="0" marL="0">
              <a:lnSpc>
                <a:spcPts val="1969"/>
              </a:lnSpc>
              <a:buNone/>
            </a:pPr>
            <a:endParaRPr lang="en-US" sz="1125" dirty="0"/>
          </a:p>
          <a:p>
            <a:pPr algn="l" indent="0" marL="0">
              <a:lnSpc>
                <a:spcPts val="1969"/>
              </a:lnSpc>
              <a:buNone/>
            </a:pPr>
            <a:r>
              <a:rPr lang="en-US" sz="1125" dirty="0">
                <a:solidFill>
                  <a:srgbClr val="A8CBF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다채널 스트림 처리에는 오버스펙.</a:t>
            </a:r>
            <a:endParaRPr lang="en-US" sz="1125" dirty="0"/>
          </a:p>
        </p:txBody>
      </p:sp>
      <p:sp>
        <p:nvSpPr>
          <p:cNvPr id="23" name="Text 17"/>
          <p:cNvSpPr txBox="1"/>
          <p:nvPr/>
        </p:nvSpPr>
        <p:spPr>
          <a:xfrm>
            <a:off x="12382805" y="4629607"/>
            <a:ext cx="4858207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Baud Tick 카운터 (per-ch parameter)</a:t>
            </a:r>
            <a:endParaRPr lang="en-US" sz="1050" dirty="0"/>
          </a:p>
        </p:txBody>
      </p:sp>
      <p:sp>
        <p:nvSpPr>
          <p:cNvPr id="24" name="Text 18"/>
          <p:cNvSpPr txBox="1"/>
          <p:nvPr/>
        </p:nvSpPr>
        <p:spPr>
          <a:xfrm>
            <a:off x="12382805" y="4882896"/>
            <a:ext cx="4858207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8-bit Shift Register + FSM</a:t>
            </a:r>
            <a:endParaRPr lang="en-US" sz="1050" dirty="0"/>
          </a:p>
        </p:txBody>
      </p:sp>
      <p:sp>
        <p:nvSpPr>
          <p:cNvPr id="25" name="Text 19"/>
          <p:cNvSpPr txBox="1"/>
          <p:nvPr/>
        </p:nvSpPr>
        <p:spPr>
          <a:xfrm>
            <a:off x="12382805" y="5137099"/>
            <a:ext cx="4858207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8× Oversampling (안정적 수신)</a:t>
            </a:r>
            <a:endParaRPr lang="en-US" sz="1050" dirty="0"/>
          </a:p>
        </p:txBody>
      </p:sp>
      <p:sp>
        <p:nvSpPr>
          <p:cNvPr id="26" name="Text 20"/>
          <p:cNvSpPr txBox="1"/>
          <p:nvPr/>
        </p:nvSpPr>
        <p:spPr>
          <a:xfrm>
            <a:off x="12382805" y="5390388"/>
            <a:ext cx="4858207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</a:t>
            </a:r>
            <a:pPr algn="l" indent="0" marL="0">
              <a:buNone/>
            </a:pPr>
            <a:r>
              <a:rPr lang="en-US" sz="1050" b="1" dirty="0">
                <a:solidFill>
                  <a:srgbClr val="4FD1C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채널당 리소스 &lt; 100 LUT</a:t>
            </a:r>
            <a:endParaRPr lang="en-US" sz="1050" dirty="0"/>
          </a:p>
        </p:txBody>
      </p:sp>
      <p:sp>
        <p:nvSpPr>
          <p:cNvPr id="27" name="Text 21"/>
          <p:cNvSpPr txBox="1"/>
          <p:nvPr/>
        </p:nvSpPr>
        <p:spPr>
          <a:xfrm>
            <a:off x="12382805" y="6238951"/>
            <a:ext cx="4858207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225" kern="0" dirty="0">
                <a:solidFill>
                  <a:srgbClr val="B872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BAUD TICK EXAMPLE</a:t>
            </a:r>
            <a:endParaRPr lang="en-US" sz="900" dirty="0"/>
          </a:p>
        </p:txBody>
      </p:sp>
      <p:sp>
        <p:nvSpPr>
          <p:cNvPr id="28" name="Text 22"/>
          <p:cNvSpPr txBox="1"/>
          <p:nvPr/>
        </p:nvSpPr>
        <p:spPr>
          <a:xfrm>
            <a:off x="12382805" y="6424574"/>
            <a:ext cx="4858207" cy="5385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42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100MHz / 1Mbps = </a:t>
            </a:r>
            <a:pPr algn="l" indent="0" marL="0">
              <a:lnSpc>
                <a:spcPts val="1942"/>
              </a:lnSpc>
              <a:buNone/>
            </a:pPr>
            <a:r>
              <a:rPr lang="en-US" sz="1050" b="1" dirty="0">
                <a:solidFill>
                  <a:srgbClr val="0B1E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100 ticks/bit</a:t>
            </a:r>
            <a:pPr algn="l" indent="0" marL="0">
              <a:lnSpc>
                <a:spcPts val="1942"/>
              </a:lnSpc>
              <a:buNone/>
            </a:pPr>
            <a:endParaRPr lang="en-US" sz="1050" dirty="0"/>
          </a:p>
          <a:p>
            <a:pPr algn="l" indent="0" marL="0">
              <a:lnSpc>
                <a:spcPts val="1942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100MHz / 8Mbps = </a:t>
            </a:r>
            <a:pPr algn="l" indent="0" marL="0">
              <a:lnSpc>
                <a:spcPts val="1942"/>
              </a:lnSpc>
              <a:buNone/>
            </a:pPr>
            <a:r>
              <a:rPr lang="en-US" sz="1050" b="1" dirty="0">
                <a:solidFill>
                  <a:srgbClr val="F2A0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12.5 ticks/bit</a:t>
            </a:r>
            <a:endParaRPr lang="en-US" sz="1050" dirty="0"/>
          </a:p>
        </p:txBody>
      </p:sp>
      <p:sp>
        <p:nvSpPr>
          <p:cNvPr id="29" name="Text 23"/>
          <p:cNvSpPr txBox="1"/>
          <p:nvPr/>
        </p:nvSpPr>
        <p:spPr>
          <a:xfrm>
            <a:off x="12382805" y="7037222"/>
            <a:ext cx="4858207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6B7A8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 8Mbps 지원을 위해 시스템 클럭 100 ~ 125MHz 권장</a:t>
            </a:r>
            <a:endParaRPr lang="en-US" sz="975" dirty="0"/>
          </a:p>
        </p:txBody>
      </p:sp>
      <p:sp>
        <p:nvSpPr>
          <p:cNvPr id="30" name="Text 24"/>
          <p:cNvSpPr txBox="1"/>
          <p:nvPr/>
        </p:nvSpPr>
        <p:spPr>
          <a:xfrm>
            <a:off x="12382805" y="8143646"/>
            <a:ext cx="4858207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225" kern="0" dirty="0">
                <a:solidFill>
                  <a:srgbClr val="2E7D5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RESOURCE ESTIMATE (64ch)</a:t>
            </a:r>
            <a:endParaRPr lang="en-US" sz="900" dirty="0"/>
          </a:p>
        </p:txBody>
      </p:sp>
      <p:sp>
        <p:nvSpPr>
          <p:cNvPr id="31" name="Text 25"/>
          <p:cNvSpPr txBox="1"/>
          <p:nvPr/>
        </p:nvSpPr>
        <p:spPr>
          <a:xfrm>
            <a:off x="12382805" y="8310067"/>
            <a:ext cx="4858207" cy="814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125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UART Engine × 128 (RX+TX) ≈ </a:t>
            </a:r>
            <a:pPr algn="l" indent="0" marL="0">
              <a:lnSpc>
                <a:spcPts val="2025"/>
              </a:lnSpc>
              <a:buNone/>
            </a:pPr>
            <a:r>
              <a:rPr lang="en-US" sz="1125" b="1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13K LUT</a:t>
            </a:r>
            <a:pPr algn="l" indent="0" marL="0">
              <a:lnSpc>
                <a:spcPts val="2025"/>
              </a:lnSpc>
              <a:buNone/>
            </a:pPr>
            <a:endParaRPr lang="en-US" sz="1125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125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Channel Buffer 4 KB ≈ </a:t>
            </a:r>
            <a:pPr algn="l" indent="0" marL="0">
              <a:lnSpc>
                <a:spcPts val="2025"/>
              </a:lnSpc>
              <a:buNone/>
            </a:pPr>
            <a:r>
              <a:rPr lang="en-US" sz="1125" b="1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1~2 BRAM</a:t>
            </a:r>
            <a:pPr algn="l" indent="0" marL="0">
              <a:lnSpc>
                <a:spcPts val="2025"/>
              </a:lnSpc>
              <a:buNone/>
            </a:pPr>
            <a:endParaRPr lang="en-US" sz="1125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125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최신 mid-range FPGA에서 </a:t>
            </a:r>
            <a:pPr algn="l" indent="0" marL="0">
              <a:lnSpc>
                <a:spcPts val="2025"/>
              </a:lnSpc>
              <a:buNone/>
            </a:pPr>
            <a:r>
              <a:rPr lang="en-US" sz="1125" b="1" dirty="0">
                <a:solidFill>
                  <a:srgbClr val="2E7D5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여유 있게 수용</a:t>
            </a:r>
            <a:endParaRPr lang="en-US" sz="1125" dirty="0"/>
          </a:p>
        </p:txBody>
      </p:sp>
      <p:sp>
        <p:nvSpPr>
          <p:cNvPr id="32" name="Text 26"/>
          <p:cNvSpPr txBox="1"/>
          <p:nvPr/>
        </p:nvSpPr>
        <p:spPr>
          <a:xfrm>
            <a:off x="761695" y="10001707"/>
            <a:ext cx="7620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6B7A8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© X-BEAM TECH · RS422 Optical Converter Proposal</a:t>
            </a:r>
            <a:endParaRPr lang="en-US" sz="1200" dirty="0"/>
          </a:p>
        </p:txBody>
      </p:sp>
      <p:sp>
        <p:nvSpPr>
          <p:cNvPr id="33" name="Text 27"/>
          <p:cNvSpPr txBox="1"/>
          <p:nvPr/>
        </p:nvSpPr>
        <p:spPr>
          <a:xfrm>
            <a:off x="16954805" y="10001707"/>
            <a:ext cx="762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0B1E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10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bbe9102593f4e087a7f9a8829596dda6.png">    </p:cNvPr>
          <p:cNvPicPr>
            <a:picLocks noChangeAspect="1"/>
          </p:cNvPicPr>
          <p:nvPr/>
        </p:nvPicPr>
        <p:blipFill>
          <a:blip r:embed="rId1"/>
          <a:srcRect l="0" r="0" t="-18" b="-18"/>
          <a:stretch/>
        </p:blipFill>
        <p:spPr>
          <a:xfrm>
            <a:off x="0" y="0"/>
            <a:ext cx="18288000" cy="83850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868205"/>
            <a:ext cx="18288000" cy="428854"/>
          </a:xfrm>
          <a:prstGeom prst="rect">
            <a:avLst/>
          </a:prstGeom>
          <a:solidFill>
            <a:srgbClr val="EBF0F5"/>
          </a:solidFill>
          <a:ln/>
        </p:spPr>
      </p:sp>
      <p:sp>
        <p:nvSpPr>
          <p:cNvPr id="4" name="Shape 1"/>
          <p:cNvSpPr/>
          <p:nvPr/>
        </p:nvSpPr>
        <p:spPr>
          <a:xfrm>
            <a:off x="0" y="9868205"/>
            <a:ext cx="18288000" cy="9144"/>
          </a:xfrm>
          <a:prstGeom prst="rect">
            <a:avLst/>
          </a:prstGeom>
          <a:solidFill>
            <a:srgbClr val="D5DDE7"/>
          </a:solidFill>
          <a:ln w="12700">
            <a:solidFill>
              <a:srgbClr val="D5DDE7">
                <a:alpha val="0"/>
              </a:srgbClr>
            </a:solidFill>
            <a:prstDash val="solid"/>
          </a:ln>
        </p:spPr>
      </p:sp>
      <p:pic>
        <p:nvPicPr>
          <p:cNvPr id="5" name="Image 1" descr="gen-dedup-78f5d69254904e90ea2bb115a4f6f495.png">    </p:cNvPr>
          <p:cNvPicPr>
            <a:picLocks noChangeAspect="1"/>
          </p:cNvPicPr>
          <p:nvPr/>
        </p:nvPicPr>
        <p:blipFill>
          <a:blip r:embed="rId2"/>
          <a:srcRect l="0" r="0" t="-6" b="-6"/>
          <a:stretch/>
        </p:blipFill>
        <p:spPr>
          <a:xfrm>
            <a:off x="761695" y="2667305"/>
            <a:ext cx="16763695" cy="323880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61695" y="6286500"/>
            <a:ext cx="8238744" cy="3105302"/>
          </a:xfrm>
          <a:prstGeom prst="rect">
            <a:avLst/>
          </a:prstGeom>
          <a:solidFill>
            <a:srgbClr val="EBF6EE"/>
          </a:solidFill>
          <a:ln/>
        </p:spPr>
      </p:sp>
      <p:sp>
        <p:nvSpPr>
          <p:cNvPr id="7" name="Shape 3"/>
          <p:cNvSpPr/>
          <p:nvPr/>
        </p:nvSpPr>
        <p:spPr>
          <a:xfrm>
            <a:off x="761695" y="6286500"/>
            <a:ext cx="8238744" cy="57607"/>
          </a:xfrm>
          <a:prstGeom prst="rect">
            <a:avLst/>
          </a:prstGeom>
          <a:solidFill>
            <a:srgbClr val="2E7D5B"/>
          </a:solidFill>
          <a:ln w="12700">
            <a:solidFill>
              <a:srgbClr val="2E7D5B">
                <a:alpha val="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9286646" y="6286500"/>
            <a:ext cx="8238744" cy="3105302"/>
          </a:xfrm>
          <a:prstGeom prst="rect">
            <a:avLst/>
          </a:prstGeom>
          <a:solidFill>
            <a:srgbClr val="FFF2E0"/>
          </a:solidFill>
          <a:ln/>
        </p:spPr>
      </p:sp>
      <p:sp>
        <p:nvSpPr>
          <p:cNvPr id="9" name="Shape 5"/>
          <p:cNvSpPr/>
          <p:nvPr/>
        </p:nvSpPr>
        <p:spPr>
          <a:xfrm>
            <a:off x="9286646" y="6286500"/>
            <a:ext cx="8238744" cy="57607"/>
          </a:xfrm>
          <a:prstGeom prst="rect">
            <a:avLst/>
          </a:prstGeom>
          <a:solidFill>
            <a:srgbClr val="F2A03D"/>
          </a:solidFill>
          <a:ln w="12700">
            <a:solidFill>
              <a:srgbClr val="F2A03D">
                <a:alpha val="0"/>
              </a:srgbClr>
            </a:solidFill>
            <a:prstDash val="solid"/>
          </a:ln>
        </p:spPr>
      </p:sp>
      <p:pic>
        <p:nvPicPr>
          <p:cNvPr id="10" name="Image 2" descr="gen-dedup-38da0ed665b1c718eec03b3e0b4a6d6a.png">    </p:cNvPr>
          <p:cNvPicPr>
            <a:picLocks noChangeAspect="1"/>
          </p:cNvPicPr>
          <p:nvPr/>
        </p:nvPicPr>
        <p:blipFill>
          <a:blip r:embed="rId3"/>
          <a:srcRect l="0" r="0" t="-6" b="-6"/>
          <a:stretch/>
        </p:blipFill>
        <p:spPr>
          <a:xfrm>
            <a:off x="761695" y="2667305"/>
            <a:ext cx="16763695" cy="323880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61695" y="190195"/>
            <a:ext cx="85725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b="1" spc="225" kern="0" dirty="0">
                <a:solidFill>
                  <a:srgbClr val="4FD1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ROADMAP</a:t>
            </a:r>
            <a:endParaRPr lang="en-US" sz="825" dirty="0"/>
          </a:p>
        </p:txBody>
      </p:sp>
      <p:sp>
        <p:nvSpPr>
          <p:cNvPr id="12" name="Text 7"/>
          <p:cNvSpPr txBox="1"/>
          <p:nvPr/>
        </p:nvSpPr>
        <p:spPr>
          <a:xfrm>
            <a:off x="761695" y="362102"/>
            <a:ext cx="857250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spc="-37" kern="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4채널 → 64채널 확장 전략</a:t>
            </a:r>
            <a:endParaRPr lang="en-US" sz="2100" dirty="0"/>
          </a:p>
        </p:txBody>
      </p:sp>
      <p:sp>
        <p:nvSpPr>
          <p:cNvPr id="13" name="Text 8"/>
          <p:cNvSpPr txBox="1"/>
          <p:nvPr/>
        </p:nvSpPr>
        <p:spPr>
          <a:xfrm>
            <a:off x="15430500" y="323698"/>
            <a:ext cx="2095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b="1" spc="300" kern="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XBEAM TECH</a:t>
            </a:r>
            <a:endParaRPr lang="en-US" sz="1050" dirty="0"/>
          </a:p>
        </p:txBody>
      </p:sp>
      <p:sp>
        <p:nvSpPr>
          <p:cNvPr id="14" name="Text 9"/>
          <p:cNvSpPr txBox="1"/>
          <p:nvPr/>
        </p:nvSpPr>
        <p:spPr>
          <a:xfrm>
            <a:off x="761695" y="1238098"/>
            <a:ext cx="13335610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300" b="1" spc="-75" kern="0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Test Board는 최종 제품의 </a:t>
            </a:r>
            <a:pPr algn="l" indent="0" marL="0">
              <a:buNone/>
            </a:pPr>
            <a:r>
              <a:rPr lang="en-US" sz="3300" b="1" spc="-75" kern="0" dirty="0">
                <a:solidFill>
                  <a:srgbClr val="3E8ED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축소판</a:t>
            </a:r>
            <a:pPr algn="l" indent="0" marL="0">
              <a:buNone/>
            </a:pPr>
            <a:r>
              <a:rPr lang="en-US" sz="3300" b="1" spc="-75" kern="0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 되어야 합니다</a:t>
            </a:r>
            <a:endParaRPr lang="en-US" sz="3300" dirty="0"/>
          </a:p>
        </p:txBody>
      </p:sp>
      <p:sp>
        <p:nvSpPr>
          <p:cNvPr id="15" name="Text 10"/>
          <p:cNvSpPr txBox="1"/>
          <p:nvPr/>
        </p:nvSpPr>
        <p:spPr>
          <a:xfrm>
            <a:off x="761695" y="1815084"/>
            <a:ext cx="13335610" cy="2578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6B7A8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FPGA · 광 인터페이스 · Frame 프로토콜을 동일하게 유지 → 채널 수만 확장하면 재개발 최소화</a:t>
            </a:r>
            <a:endParaRPr lang="en-US" sz="1350" dirty="0"/>
          </a:p>
        </p:txBody>
      </p:sp>
      <p:sp>
        <p:nvSpPr>
          <p:cNvPr id="16" name="Text 11"/>
          <p:cNvSpPr txBox="1"/>
          <p:nvPr/>
        </p:nvSpPr>
        <p:spPr>
          <a:xfrm>
            <a:off x="1143000" y="6572707"/>
            <a:ext cx="7620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225" kern="0" dirty="0">
                <a:solidFill>
                  <a:srgbClr val="2E7D5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✓ 유지되는 것 (Phase 1 → 4)</a:t>
            </a:r>
            <a:endParaRPr lang="en-US" sz="975" dirty="0"/>
          </a:p>
        </p:txBody>
      </p:sp>
      <p:sp>
        <p:nvSpPr>
          <p:cNvPr id="17" name="Text 12"/>
          <p:cNvSpPr txBox="1"/>
          <p:nvPr/>
        </p:nvSpPr>
        <p:spPr>
          <a:xfrm>
            <a:off x="1143000" y="6867144"/>
            <a:ext cx="762061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복사 수준으로 확장 가능한</a:t>
            </a:r>
            <a:pPr algn="l" indent="0" marL="0">
              <a:lnSpc>
                <a:spcPct val="135000"/>
              </a:lnSpc>
              <a:buNone/>
            </a:pPr>
            <a:endParaRPr lang="en-US" sz="19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공통 요소</a:t>
            </a:r>
            <a:endParaRPr lang="en-US" sz="1950" dirty="0"/>
          </a:p>
        </p:txBody>
      </p:sp>
      <p:sp>
        <p:nvSpPr>
          <p:cNvPr id="18" name="Text 13"/>
          <p:cNvSpPr txBox="1"/>
          <p:nvPr/>
        </p:nvSpPr>
        <p:spPr>
          <a:xfrm>
            <a:off x="1143000" y="7726680"/>
            <a:ext cx="76206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7D5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›</a:t>
            </a:r>
            <a:pPr algn="l" indent="0" marL="0">
              <a:buNone/>
            </a:pPr>
            <a:r>
              <a:rPr lang="en-US" sz="1200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Frame Protocol (SOF · VALID MAP · CRC)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1143000" y="8031175"/>
            <a:ext cx="76206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7D5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›</a:t>
            </a:r>
            <a:pPr algn="l" indent="0" marL="0">
              <a:buNone/>
            </a:pPr>
            <a:r>
              <a:rPr lang="en-US" sz="1200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FPGA 계열 및 SerDes IP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1143000" y="8336585"/>
            <a:ext cx="76206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7D5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›</a:t>
            </a:r>
            <a:pPr algn="l" indent="0" marL="0">
              <a:buNone/>
            </a:pPr>
            <a:r>
              <a:rPr lang="en-US" sz="1200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광 인터페이스 (TOSA/ROSA · G657B3)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1143000" y="8641080"/>
            <a:ext cx="76206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7D5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›</a:t>
            </a:r>
            <a:pPr algn="l" indent="0" marL="0">
              <a:buNone/>
            </a:pPr>
            <a:r>
              <a:rPr lang="en-US" sz="1200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UART Engine RTL (per-ch instance)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1143000" y="8945575"/>
            <a:ext cx="76206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E7D5B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›</a:t>
            </a:r>
            <a:pPr algn="l" indent="0" marL="0">
              <a:buNone/>
            </a:pPr>
            <a:r>
              <a:rPr lang="en-US" sz="1200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클럭 트리 (24MHz Xtal + PLL)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9667951" y="6572707"/>
            <a:ext cx="7620610" cy="1810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225" kern="0" dirty="0">
                <a:solidFill>
                  <a:srgbClr val="B872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△ Phase마다 재검토</a:t>
            </a:r>
            <a:endParaRPr lang="en-US" sz="975" dirty="0"/>
          </a:p>
        </p:txBody>
      </p:sp>
      <p:sp>
        <p:nvSpPr>
          <p:cNvPr id="24" name="Text 19"/>
          <p:cNvSpPr txBox="1"/>
          <p:nvPr/>
        </p:nvSpPr>
        <p:spPr>
          <a:xfrm>
            <a:off x="9667951" y="6867144"/>
            <a:ext cx="762061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규모 확장에 따라</a:t>
            </a:r>
            <a:pPr algn="l" indent="0" marL="0">
              <a:lnSpc>
                <a:spcPct val="135000"/>
              </a:lnSpc>
              <a:buNone/>
            </a:pPr>
            <a:endParaRPr lang="en-US" sz="19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950" b="1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변경/확정이 필요한 요소</a:t>
            </a:r>
            <a:endParaRPr lang="en-US" sz="1950" dirty="0"/>
          </a:p>
        </p:txBody>
      </p:sp>
      <p:sp>
        <p:nvSpPr>
          <p:cNvPr id="25" name="Text 20"/>
          <p:cNvSpPr txBox="1"/>
          <p:nvPr/>
        </p:nvSpPr>
        <p:spPr>
          <a:xfrm>
            <a:off x="9667951" y="7726680"/>
            <a:ext cx="76206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722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›</a:t>
            </a:r>
            <a:pPr algn="l" indent="0" marL="0">
              <a:buNone/>
            </a:pPr>
            <a:r>
              <a:rPr lang="en-US" sz="1200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FPGA Device 크기 / 패키지 (I/O 핀 수)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9667951" y="8031175"/>
            <a:ext cx="76206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722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›</a:t>
            </a:r>
            <a:pPr algn="l" indent="0" marL="0">
              <a:buNone/>
            </a:pPr>
            <a:r>
              <a:rPr lang="en-US" sz="1200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Frame Slot 폭 (1B → 8B, 8Mbps 시)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9667951" y="8336585"/>
            <a:ext cx="76206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722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›</a:t>
            </a:r>
            <a:pPr algn="l" indent="0" marL="0">
              <a:buNone/>
            </a:pPr>
            <a:r>
              <a:rPr lang="en-US" sz="1200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Channel FIFO 깊이 (2B → 32B)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9667951" y="8641080"/>
            <a:ext cx="76206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722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›</a:t>
            </a:r>
            <a:pPr algn="l" indent="0" marL="0">
              <a:buNone/>
            </a:pPr>
            <a:r>
              <a:rPr lang="en-US" sz="1200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RS-422 Transceiver 개수 및 PCB 배선</a:t>
            </a:r>
            <a:endParaRPr lang="en-US" sz="1200" dirty="0"/>
          </a:p>
        </p:txBody>
      </p:sp>
      <p:sp>
        <p:nvSpPr>
          <p:cNvPr id="29" name="Text 24"/>
          <p:cNvSpPr txBox="1"/>
          <p:nvPr/>
        </p:nvSpPr>
        <p:spPr>
          <a:xfrm>
            <a:off x="9667951" y="8945575"/>
            <a:ext cx="7620610" cy="3054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8722A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›</a:t>
            </a:r>
            <a:pPr algn="l" indent="0" marL="0">
              <a:buNone/>
            </a:pPr>
            <a:r>
              <a:rPr lang="en-US" sz="1200" dirty="0">
                <a:solidFill>
                  <a:srgbClr val="0B1E3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Hybrid Connector 사양 확정</a:t>
            </a:r>
            <a:endParaRPr lang="en-US" sz="1200" dirty="0"/>
          </a:p>
        </p:txBody>
      </p:sp>
      <p:sp>
        <p:nvSpPr>
          <p:cNvPr id="30" name="Text 25"/>
          <p:cNvSpPr txBox="1"/>
          <p:nvPr/>
        </p:nvSpPr>
        <p:spPr>
          <a:xfrm>
            <a:off x="761695" y="10001707"/>
            <a:ext cx="7620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6B7A8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© X-BEAM TECH · RS422 Optical Converter Proposal</a:t>
            </a:r>
            <a:endParaRPr lang="en-US" sz="1200" dirty="0"/>
          </a:p>
        </p:txBody>
      </p:sp>
      <p:sp>
        <p:nvSpPr>
          <p:cNvPr id="31" name="Text 26"/>
          <p:cNvSpPr txBox="1"/>
          <p:nvPr/>
        </p:nvSpPr>
        <p:spPr>
          <a:xfrm>
            <a:off x="16954805" y="10001707"/>
            <a:ext cx="7626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0B1E3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/ 10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E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bb6a99d4bdd06847593b669bc83302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gen-dedup-7465a4dc1adaa0c3b4111d093c4cf637.png">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61695" y="4190695"/>
            <a:ext cx="5352898" cy="3258007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A8CBF0">
                <a:alpha val="20000"/>
              </a:srgbClr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6476695" y="4190695"/>
            <a:ext cx="5352898" cy="3258007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A8CBF0">
                <a:alpha val="20000"/>
              </a:srgbClr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12191695" y="4190695"/>
            <a:ext cx="5352898" cy="3258007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A8CBF0">
                <a:alpha val="20000"/>
              </a:srgbClr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61695" y="571500"/>
            <a:ext cx="38103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4FD1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SUMMARY · 09 / 10</a:t>
            </a:r>
            <a:endParaRPr lang="en-US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15430500" y="571500"/>
            <a:ext cx="2095805" cy="2002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b="1" spc="300" kern="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XBEAM TECH</a:t>
            </a:r>
            <a:endParaRPr lang="en-US" sz="1050" dirty="0"/>
          </a:p>
        </p:txBody>
      </p:sp>
      <p:sp>
        <p:nvSpPr>
          <p:cNvPr id="9" name="Text 5"/>
          <p:cNvSpPr txBox="1"/>
          <p:nvPr/>
        </p:nvSpPr>
        <p:spPr>
          <a:xfrm>
            <a:off x="761695" y="1619402"/>
            <a:ext cx="16764610" cy="800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700" b="1" spc="-187" kern="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다채널 RS-422 </a:t>
            </a:r>
            <a:pPr algn="l" indent="0" marL="0">
              <a:buNone/>
            </a:pPr>
            <a:r>
              <a:rPr lang="en-US" sz="5700" b="1" spc="-187" kern="0" dirty="0">
                <a:solidFill>
                  <a:srgbClr val="4FD1C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</a:t>
            </a:r>
            <a:pPr algn="l" indent="0" marL="0">
              <a:buNone/>
            </a:pPr>
            <a:r>
              <a:rPr lang="en-US" sz="5700" b="1" spc="-187" kern="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광 링크</a:t>
            </a:r>
            <a:endParaRPr lang="en-US" sz="5700" dirty="0"/>
          </a:p>
        </p:txBody>
      </p:sp>
      <p:sp>
        <p:nvSpPr>
          <p:cNvPr id="10" name="Text 6"/>
          <p:cNvSpPr txBox="1"/>
          <p:nvPr/>
        </p:nvSpPr>
        <p:spPr>
          <a:xfrm>
            <a:off x="761695" y="2472538"/>
            <a:ext cx="16764610" cy="800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700" spc="-187" kern="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단순하고 확장 가능한 구조</a:t>
            </a:r>
            <a:endParaRPr lang="en-US" sz="5700" dirty="0"/>
          </a:p>
        </p:txBody>
      </p:sp>
      <p:sp>
        <p:nvSpPr>
          <p:cNvPr id="11" name="Text 7"/>
          <p:cNvSpPr txBox="1"/>
          <p:nvPr/>
        </p:nvSpPr>
        <p:spPr>
          <a:xfrm>
            <a:off x="1047902" y="4476902"/>
            <a:ext cx="476311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4FD1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5400" dirty="0"/>
          </a:p>
        </p:txBody>
      </p:sp>
      <p:sp>
        <p:nvSpPr>
          <p:cNvPr id="12" name="Text 8"/>
          <p:cNvSpPr txBox="1"/>
          <p:nvPr/>
        </p:nvSpPr>
        <p:spPr>
          <a:xfrm>
            <a:off x="1047902" y="5352898"/>
            <a:ext cx="4763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고정 Frame + VALID MAP 방식</a:t>
            </a:r>
            <a:endParaRPr lang="en-US" sz="1950" dirty="0"/>
          </a:p>
        </p:txBody>
      </p:sp>
      <p:pic>
        <p:nvPicPr>
          <p:cNvPr id="13" name="Image 2" descr="gen-dedup-26fc90c1117cc785cf8b23bf2c0c565b.png">    </p:cNvPr>
          <p:cNvPicPr>
            <a:picLocks noChangeAspect="1"/>
          </p:cNvPicPr>
          <p:nvPr/>
        </p:nvPicPr>
        <p:blipFill>
          <a:blip r:embed="rId3"/>
          <a:srcRect l="0" r="0" t="-384" b="-384"/>
          <a:stretch/>
        </p:blipFill>
        <p:spPr>
          <a:xfrm>
            <a:off x="1047902" y="5839358"/>
            <a:ext cx="476402" cy="1920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47902" y="5975604"/>
            <a:ext cx="4763110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125" dirty="0">
                <a:solidFill>
                  <a:srgbClr val="A8CBF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Deterministic Latency</a:t>
            </a:r>
            <a:pPr algn="l" indent="0" marL="0">
              <a:lnSpc>
                <a:spcPts val="1913"/>
              </a:lnSpc>
              <a:buNone/>
            </a:pPr>
            <a:endParaRPr lang="en-US" sz="1125" dirty="0"/>
          </a:p>
          <a:p>
            <a:pPr algn="l" indent="0" marL="0">
              <a:lnSpc>
                <a:spcPts val="1913"/>
              </a:lnSpc>
              <a:buNone/>
            </a:pPr>
            <a:r>
              <a:rPr lang="en-US" sz="1125" dirty="0">
                <a:solidFill>
                  <a:srgbClr val="A8CBF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FPGA Parser 매우 단순</a:t>
            </a:r>
            <a:pPr algn="l" indent="0" marL="0">
              <a:lnSpc>
                <a:spcPts val="1913"/>
              </a:lnSpc>
              <a:buNone/>
            </a:pPr>
            <a:endParaRPr lang="en-US" sz="1125" dirty="0"/>
          </a:p>
          <a:p>
            <a:pPr algn="l" indent="0" marL="0">
              <a:lnSpc>
                <a:spcPts val="1913"/>
              </a:lnSpc>
              <a:buNone/>
            </a:pPr>
            <a:r>
              <a:rPr lang="en-US" sz="1125" dirty="0">
                <a:solidFill>
                  <a:srgbClr val="A8CBF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1Mbps 사양에 최적</a:t>
            </a:r>
            <a:endParaRPr lang="en-US" sz="1125" dirty="0"/>
          </a:p>
        </p:txBody>
      </p:sp>
      <p:sp>
        <p:nvSpPr>
          <p:cNvPr id="15" name="Text 10"/>
          <p:cNvSpPr txBox="1"/>
          <p:nvPr/>
        </p:nvSpPr>
        <p:spPr>
          <a:xfrm>
            <a:off x="6762902" y="4476902"/>
            <a:ext cx="476311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3E8E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5400" dirty="0"/>
          </a:p>
        </p:txBody>
      </p:sp>
      <p:sp>
        <p:nvSpPr>
          <p:cNvPr id="16" name="Text 11"/>
          <p:cNvSpPr txBox="1"/>
          <p:nvPr/>
        </p:nvSpPr>
        <p:spPr>
          <a:xfrm>
            <a:off x="6762902" y="5352898"/>
            <a:ext cx="4763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 Gbps Fiber Link · 여유율 확보</a:t>
            </a:r>
            <a:endParaRPr lang="en-US" sz="1950" dirty="0"/>
          </a:p>
        </p:txBody>
      </p:sp>
      <p:pic>
        <p:nvPicPr>
          <p:cNvPr id="17" name="Image 3" descr="gen-dedup-59ae151a28e3b979fe2e52ce2f633912.png">    </p:cNvPr>
          <p:cNvPicPr>
            <a:picLocks noChangeAspect="1"/>
          </p:cNvPicPr>
          <p:nvPr/>
        </p:nvPicPr>
        <p:blipFill>
          <a:blip r:embed="rId4"/>
          <a:srcRect l="0" r="0" t="-384" b="-384"/>
          <a:stretch/>
        </p:blipFill>
        <p:spPr>
          <a:xfrm>
            <a:off x="6762902" y="5839358"/>
            <a:ext cx="476402" cy="1920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762902" y="5975604"/>
            <a:ext cx="4763110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125" dirty="0">
                <a:solidFill>
                  <a:srgbClr val="A8CBF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최대 시나리오 · </a:t>
            </a:r>
            <a:pPr algn="l" indent="0" marL="0">
              <a:lnSpc>
                <a:spcPts val="1913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51%</a:t>
            </a:r>
            <a:pPr algn="l" indent="0" marL="0">
              <a:lnSpc>
                <a:spcPts val="1913"/>
              </a:lnSpc>
              <a:buNone/>
            </a:pPr>
            <a:r>
              <a:rPr lang="en-US" sz="1125" dirty="0">
                <a:solidFill>
                  <a:srgbClr val="A8CBF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사용</a:t>
            </a:r>
            <a:pPr algn="l" indent="0" marL="0">
              <a:lnSpc>
                <a:spcPts val="1913"/>
              </a:lnSpc>
              <a:buNone/>
            </a:pPr>
            <a:endParaRPr lang="en-US" sz="1125" dirty="0"/>
          </a:p>
          <a:p>
            <a:pPr algn="l" indent="0" marL="0">
              <a:lnSpc>
                <a:spcPts val="1913"/>
              </a:lnSpc>
              <a:buNone/>
            </a:pPr>
            <a:r>
              <a:rPr lang="en-US" sz="1125" dirty="0">
                <a:solidFill>
                  <a:srgbClr val="A8CBF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4채널 시제품 · </a:t>
            </a:r>
            <a:pPr algn="l" indent="0" marL="0">
              <a:lnSpc>
                <a:spcPts val="1913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3.2%</a:t>
            </a:r>
            <a:pPr algn="l" indent="0" marL="0">
              <a:lnSpc>
                <a:spcPts val="1913"/>
              </a:lnSpc>
              <a:buNone/>
            </a:pPr>
            <a:r>
              <a:rPr lang="en-US" sz="1125" dirty="0">
                <a:solidFill>
                  <a:srgbClr val="A8CBF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사용</a:t>
            </a:r>
            <a:pPr algn="l" indent="0" marL="0">
              <a:lnSpc>
                <a:spcPts val="1913"/>
              </a:lnSpc>
              <a:buNone/>
            </a:pPr>
            <a:endParaRPr lang="en-US" sz="1125" dirty="0"/>
          </a:p>
          <a:p>
            <a:pPr algn="l" indent="0" marL="0">
              <a:lnSpc>
                <a:spcPts val="1913"/>
              </a:lnSpc>
              <a:buNone/>
            </a:pPr>
            <a:r>
              <a:rPr lang="en-US" sz="1125" dirty="0">
                <a:solidFill>
                  <a:srgbClr val="A8CBF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Full Duplex 완전 독립 채널</a:t>
            </a:r>
            <a:endParaRPr lang="en-US" sz="1125" dirty="0"/>
          </a:p>
        </p:txBody>
      </p:sp>
      <p:sp>
        <p:nvSpPr>
          <p:cNvPr id="19" name="Text 13"/>
          <p:cNvSpPr txBox="1"/>
          <p:nvPr/>
        </p:nvSpPr>
        <p:spPr>
          <a:xfrm>
            <a:off x="12477902" y="4476902"/>
            <a:ext cx="476311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2A0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5400" dirty="0"/>
          </a:p>
        </p:txBody>
      </p:sp>
      <p:sp>
        <p:nvSpPr>
          <p:cNvPr id="20" name="Text 14"/>
          <p:cNvSpPr txBox="1"/>
          <p:nvPr/>
        </p:nvSpPr>
        <p:spPr>
          <a:xfrm>
            <a:off x="12477902" y="5352898"/>
            <a:ext cx="4763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4채널 → 64채널 매끄러운 확장</a:t>
            </a:r>
            <a:endParaRPr lang="en-US" sz="1950" dirty="0"/>
          </a:p>
        </p:txBody>
      </p:sp>
      <p:pic>
        <p:nvPicPr>
          <p:cNvPr id="21" name="Image 4" descr="gen-dedup-5c618e4faa971cdfbf06bd6d094bc750.png">    </p:cNvPr>
          <p:cNvPicPr>
            <a:picLocks noChangeAspect="1"/>
          </p:cNvPicPr>
          <p:nvPr/>
        </p:nvPicPr>
        <p:blipFill>
          <a:blip r:embed="rId5"/>
          <a:srcRect l="0" r="0" t="-384" b="-384"/>
          <a:stretch/>
        </p:blipFill>
        <p:spPr>
          <a:xfrm>
            <a:off x="12477902" y="5839358"/>
            <a:ext cx="476402" cy="1920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2477902" y="5975604"/>
            <a:ext cx="4763110" cy="769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125" dirty="0">
                <a:solidFill>
                  <a:srgbClr val="A8CBF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동일 FPGA IP 재사용</a:t>
            </a:r>
            <a:pPr algn="l" indent="0" marL="0">
              <a:lnSpc>
                <a:spcPts val="1913"/>
              </a:lnSpc>
              <a:buNone/>
            </a:pPr>
            <a:endParaRPr lang="en-US" sz="1125" dirty="0"/>
          </a:p>
          <a:p>
            <a:pPr algn="l" indent="0" marL="0">
              <a:lnSpc>
                <a:spcPts val="1913"/>
              </a:lnSpc>
              <a:buNone/>
            </a:pPr>
            <a:r>
              <a:rPr lang="en-US" sz="1125" dirty="0">
                <a:solidFill>
                  <a:srgbClr val="A8CBF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동일 Frame Protocol</a:t>
            </a:r>
            <a:pPr algn="l" indent="0" marL="0">
              <a:lnSpc>
                <a:spcPts val="1913"/>
              </a:lnSpc>
              <a:buNone/>
            </a:pPr>
            <a:endParaRPr lang="en-US" sz="1125" dirty="0"/>
          </a:p>
          <a:p>
            <a:pPr algn="l" indent="0" marL="0">
              <a:lnSpc>
                <a:spcPts val="1913"/>
              </a:lnSpc>
              <a:buNone/>
            </a:pPr>
            <a:r>
              <a:rPr lang="en-US" sz="1125" dirty="0">
                <a:solidFill>
                  <a:srgbClr val="A8CBF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PCB · I/O 스케일업만 진행</a:t>
            </a:r>
            <a:endParaRPr lang="en-US" sz="1125" dirty="0"/>
          </a:p>
        </p:txBody>
      </p:sp>
      <p:sp>
        <p:nvSpPr>
          <p:cNvPr id="23" name="Text 16"/>
          <p:cNvSpPr txBox="1"/>
          <p:nvPr/>
        </p:nvSpPr>
        <p:spPr>
          <a:xfrm>
            <a:off x="761695" y="7905902"/>
            <a:ext cx="167646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spc="225" kern="0" dirty="0">
                <a:solidFill>
                  <a:srgbClr val="4FD1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NEXT STEPS</a:t>
            </a:r>
            <a:endParaRPr lang="en-US" sz="975" dirty="0"/>
          </a:p>
        </p:txBody>
      </p:sp>
      <p:sp>
        <p:nvSpPr>
          <p:cNvPr id="24" name="Shape 17"/>
          <p:cNvSpPr/>
          <p:nvPr/>
        </p:nvSpPr>
        <p:spPr>
          <a:xfrm>
            <a:off x="761695" y="8220456"/>
            <a:ext cx="5438851" cy="819302"/>
          </a:xfrm>
          <a:prstGeom prst="rect">
            <a:avLst/>
          </a:prstGeom>
          <a:solidFill>
            <a:srgbClr val="4FD1C5">
              <a:alpha val="8000"/>
            </a:srgbClr>
          </a:solidFill>
          <a:ln/>
        </p:spPr>
      </p:sp>
      <p:sp>
        <p:nvSpPr>
          <p:cNvPr id="25" name="Shape 18"/>
          <p:cNvSpPr/>
          <p:nvPr/>
        </p:nvSpPr>
        <p:spPr>
          <a:xfrm>
            <a:off x="761695" y="8220456"/>
            <a:ext cx="28346" cy="819302"/>
          </a:xfrm>
          <a:prstGeom prst="rect">
            <a:avLst/>
          </a:prstGeom>
          <a:solidFill>
            <a:srgbClr val="4FD1C5"/>
          </a:solidFill>
          <a:ln w="12700">
            <a:solidFill>
              <a:srgbClr val="4FD1C5">
                <a:alpha val="0"/>
              </a:srgbClr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1019556" y="8410651"/>
            <a:ext cx="4953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4FD1C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1</a:t>
            </a:r>
            <a:endParaRPr lang="en-US" sz="900" dirty="0"/>
          </a:p>
        </p:txBody>
      </p:sp>
      <p:sp>
        <p:nvSpPr>
          <p:cNvPr id="27" name="Text 20"/>
          <p:cNvSpPr txBox="1"/>
          <p:nvPr/>
        </p:nvSpPr>
        <p:spPr>
          <a:xfrm>
            <a:off x="1019556" y="8620049"/>
            <a:ext cx="495330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Hybrid Connector 사양 확정 · 광섬유 벤더 선정</a:t>
            </a:r>
            <a:endParaRPr lang="en-US" sz="1275" dirty="0"/>
          </a:p>
        </p:txBody>
      </p:sp>
      <p:sp>
        <p:nvSpPr>
          <p:cNvPr id="28" name="Shape 21"/>
          <p:cNvSpPr/>
          <p:nvPr/>
        </p:nvSpPr>
        <p:spPr>
          <a:xfrm>
            <a:off x="6426403" y="8220456"/>
            <a:ext cx="5438851" cy="819302"/>
          </a:xfrm>
          <a:prstGeom prst="rect">
            <a:avLst/>
          </a:prstGeom>
          <a:solidFill>
            <a:srgbClr val="3E8EDE">
              <a:alpha val="8000"/>
            </a:srgbClr>
          </a:solidFill>
          <a:ln/>
        </p:spPr>
      </p:sp>
      <p:sp>
        <p:nvSpPr>
          <p:cNvPr id="29" name="Shape 22"/>
          <p:cNvSpPr/>
          <p:nvPr/>
        </p:nvSpPr>
        <p:spPr>
          <a:xfrm>
            <a:off x="6426403" y="8220456"/>
            <a:ext cx="28346" cy="819302"/>
          </a:xfrm>
          <a:prstGeom prst="rect">
            <a:avLst/>
          </a:prstGeom>
          <a:solidFill>
            <a:srgbClr val="3E8EDE"/>
          </a:solidFill>
          <a:ln w="12700">
            <a:solidFill>
              <a:srgbClr val="3E8EDE">
                <a:alpha val="0"/>
              </a:srgbClr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6683350" y="8410651"/>
            <a:ext cx="4953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3E8E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2</a:t>
            </a:r>
            <a:endParaRPr lang="en-US" sz="900" dirty="0"/>
          </a:p>
        </p:txBody>
      </p:sp>
      <p:sp>
        <p:nvSpPr>
          <p:cNvPr id="31" name="Text 24"/>
          <p:cNvSpPr txBox="1"/>
          <p:nvPr/>
        </p:nvSpPr>
        <p:spPr>
          <a:xfrm>
            <a:off x="6683350" y="8620049"/>
            <a:ext cx="518647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Baud Rate 요구사항 최종 확정 (1M vs 8M) · Frame 방식 결정</a:t>
            </a:r>
            <a:endParaRPr lang="en-US" sz="1275" dirty="0"/>
          </a:p>
        </p:txBody>
      </p:sp>
      <p:sp>
        <p:nvSpPr>
          <p:cNvPr id="32" name="Shape 25"/>
          <p:cNvSpPr/>
          <p:nvPr/>
        </p:nvSpPr>
        <p:spPr>
          <a:xfrm>
            <a:off x="12090197" y="8220456"/>
            <a:ext cx="5438851" cy="819302"/>
          </a:xfrm>
          <a:prstGeom prst="rect">
            <a:avLst/>
          </a:prstGeom>
          <a:solidFill>
            <a:srgbClr val="F2A03D">
              <a:alpha val="8000"/>
            </a:srgbClr>
          </a:solidFill>
          <a:ln/>
        </p:spPr>
      </p:sp>
      <p:sp>
        <p:nvSpPr>
          <p:cNvPr id="33" name="Shape 26"/>
          <p:cNvSpPr/>
          <p:nvPr/>
        </p:nvSpPr>
        <p:spPr>
          <a:xfrm>
            <a:off x="12090197" y="8220456"/>
            <a:ext cx="28346" cy="819302"/>
          </a:xfrm>
          <a:prstGeom prst="rect">
            <a:avLst/>
          </a:prstGeom>
          <a:solidFill>
            <a:srgbClr val="F2A03D"/>
          </a:solidFill>
          <a:ln w="12700">
            <a:solidFill>
              <a:srgbClr val="F2A03D">
                <a:alpha val="0"/>
              </a:srgbClr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12347143" y="8410651"/>
            <a:ext cx="49533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F2A03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STEP 3</a:t>
            </a:r>
            <a:endParaRPr lang="en-US" sz="900" dirty="0"/>
          </a:p>
        </p:txBody>
      </p:sp>
      <p:sp>
        <p:nvSpPr>
          <p:cNvPr id="35" name="Text 28"/>
          <p:cNvSpPr txBox="1"/>
          <p:nvPr/>
        </p:nvSpPr>
        <p:spPr>
          <a:xfrm>
            <a:off x="12347143" y="8620049"/>
            <a:ext cx="559429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4채널 Test Board 시제작 착수 · Loopback / CRC / Latency 검증</a:t>
            </a:r>
            <a:endParaRPr lang="en-US" sz="1275" dirty="0"/>
          </a:p>
        </p:txBody>
      </p:sp>
      <p:sp>
        <p:nvSpPr>
          <p:cNvPr id="36" name="Text 29"/>
          <p:cNvSpPr txBox="1"/>
          <p:nvPr/>
        </p:nvSpPr>
        <p:spPr>
          <a:xfrm>
            <a:off x="761695" y="9620402"/>
            <a:ext cx="1591056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50" kern="0" dirty="0">
                <a:solidFill>
                  <a:srgbClr val="A8CB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Thank you · Q &amp; A</a:t>
            </a:r>
            <a:endParaRPr lang="en-US" sz="975" dirty="0"/>
          </a:p>
        </p:txBody>
      </p:sp>
      <p:sp>
        <p:nvSpPr>
          <p:cNvPr id="37" name="Text 30"/>
          <p:cNvSpPr txBox="1"/>
          <p:nvPr/>
        </p:nvSpPr>
        <p:spPr>
          <a:xfrm>
            <a:off x="14259154" y="9620402"/>
            <a:ext cx="3277210" cy="1627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spc="150" kern="0" dirty="0">
                <a:solidFill>
                  <a:srgbClr val="6B7A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© 2026 · X-BEAM TECH · CONFIDENTIAL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2026-08-03T10:32:14Z</dcterms:created>
  <dcterms:modified xsi:type="dcterms:W3CDTF">2026-08-03T10:32:14Z</dcterms:modified>
</cp:coreProperties>
</file>